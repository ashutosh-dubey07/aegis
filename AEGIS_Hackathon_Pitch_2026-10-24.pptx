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72" d="100"/>
          <a:sy n="72" d="100"/>
        </p:scale>
        <p:origin x="39" y="474"/>
      </p:cViewPr>
      <p:guideLst/>
    </p:cSldViewPr>
  </p:slideViewPr>
  <p:notesTextViewPr>
    <p:cViewPr>
      <p:scale>
        <a:sx n="1" d="1"/>
        <a:sy n="1" d="1"/>
      </p:scale>
      <p:origin x="0" y="-17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AEGIS Not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indent="0">
      <a:defRPr lang="hi-IN" sz="14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0:00–0:25 | Namaste. AEGIS </a:t>
            </a:r>
            <a:r>
              <a:rPr lang="en-US" dirty="0" err="1"/>
              <a:t>ek</a:t>
            </a:r>
            <a:r>
              <a:rPr lang="en-US" dirty="0"/>
              <a:t> local evacuation rehearsal </a:t>
            </a:r>
            <a:r>
              <a:rPr lang="en-US" dirty="0" err="1"/>
              <a:t>hai</a:t>
            </a:r>
            <a:r>
              <a:rPr lang="en-US" dirty="0"/>
              <a:t>. Yeh multi-floor building, occupants aur hazard simulate </a:t>
            </a:r>
            <a:r>
              <a:rPr lang="en-US" dirty="0" err="1"/>
              <a:t>karta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Alarm </a:t>
            </a:r>
            <a:r>
              <a:rPr lang="en-US" dirty="0" err="1"/>
              <a:t>ya</a:t>
            </a:r>
            <a:r>
              <a:rPr lang="en-US" dirty="0"/>
              <a:t> passage band </a:t>
            </a:r>
            <a:r>
              <a:rPr lang="en-US" dirty="0" err="1"/>
              <a:t>hote</a:t>
            </a:r>
            <a:r>
              <a:rPr lang="en-US" dirty="0"/>
              <a:t> hi route </a:t>
            </a:r>
            <a:r>
              <a:rPr lang="en-US" dirty="0" err="1"/>
              <a:t>dobara</a:t>
            </a:r>
            <a:r>
              <a:rPr lang="en-US" dirty="0"/>
              <a:t> </a:t>
            </a:r>
            <a:r>
              <a:rPr lang="en-US" dirty="0" err="1"/>
              <a:t>banta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Operator </a:t>
            </a:r>
            <a:r>
              <a:rPr lang="en-US" dirty="0" err="1"/>
              <a:t>kisi</a:t>
            </a:r>
            <a:r>
              <a:rPr lang="en-US" dirty="0"/>
              <a:t> </a:t>
            </a:r>
            <a:r>
              <a:rPr lang="en-US" dirty="0" err="1"/>
              <a:t>ek</a:t>
            </a:r>
            <a:r>
              <a:rPr lang="en-US" dirty="0"/>
              <a:t> person ka floor aur remaining path </a:t>
            </a:r>
            <a:r>
              <a:rPr lang="en-US" dirty="0" err="1"/>
              <a:t>dekh</a:t>
            </a:r>
            <a:r>
              <a:rPr lang="en-US" dirty="0"/>
              <a:t> </a:t>
            </a:r>
            <a:r>
              <a:rPr lang="en-US" dirty="0" err="1"/>
              <a:t>sakta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, </a:t>
            </a:r>
            <a:r>
              <a:rPr lang="en-US" dirty="0" err="1"/>
              <a:t>phir</a:t>
            </a:r>
            <a:r>
              <a:rPr lang="en-US" dirty="0"/>
              <a:t> same run replay </a:t>
            </a:r>
            <a:r>
              <a:rPr lang="en-US" dirty="0" err="1"/>
              <a:t>kar</a:t>
            </a:r>
            <a:r>
              <a:rPr lang="en-US" dirty="0"/>
              <a:t> </a:t>
            </a:r>
            <a:r>
              <a:rPr lang="en-US" dirty="0" err="1"/>
              <a:t>sakta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8293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0:25–0:55 | Fire, earthquake, blockage aur queues route </a:t>
            </a:r>
            <a:r>
              <a:rPr lang="en-US" dirty="0" err="1"/>
              <a:t>badal</a:t>
            </a:r>
            <a:r>
              <a:rPr lang="en-US" dirty="0"/>
              <a:t> </a:t>
            </a:r>
            <a:r>
              <a:rPr lang="en-US" dirty="0" err="1"/>
              <a:t>sakte</a:t>
            </a:r>
            <a:r>
              <a:rPr lang="en-US" dirty="0"/>
              <a:t> </a:t>
            </a:r>
            <a:r>
              <a:rPr lang="en-US" dirty="0" err="1"/>
              <a:t>hain</a:t>
            </a:r>
            <a:r>
              <a:rPr lang="en-US" dirty="0"/>
              <a:t>. Operator incident </a:t>
            </a:r>
            <a:r>
              <a:rPr lang="en-US" dirty="0" err="1"/>
              <a:t>shuru</a:t>
            </a:r>
            <a:r>
              <a:rPr lang="en-US" dirty="0"/>
              <a:t> </a:t>
            </a:r>
            <a:r>
              <a:rPr lang="en-US" dirty="0" err="1"/>
              <a:t>karta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monitored location par simulated alarm inject </a:t>
            </a:r>
            <a:r>
              <a:rPr lang="en-US" dirty="0" err="1"/>
              <a:t>karta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Route engine blocked passages se </a:t>
            </a:r>
            <a:r>
              <a:rPr lang="en-US" dirty="0" err="1"/>
              <a:t>bachkar</a:t>
            </a:r>
            <a:r>
              <a:rPr lang="en-US" dirty="0"/>
              <a:t> paths update </a:t>
            </a:r>
            <a:r>
              <a:rPr lang="en-US" dirty="0" err="1"/>
              <a:t>karta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Yeh hackathon rehearsal </a:t>
            </a:r>
            <a:r>
              <a:rPr lang="en-US" dirty="0" err="1"/>
              <a:t>hai</a:t>
            </a:r>
            <a:r>
              <a:rPr lang="en-US" dirty="0"/>
              <a:t>; building aur sensor data generated </a:t>
            </a:r>
            <a:r>
              <a:rPr lang="en-US" dirty="0" err="1"/>
              <a:t>hain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8515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0:55–1:35 | Seed random choices ko repeatable </a:t>
            </a:r>
            <a:r>
              <a:rPr lang="en-US" dirty="0" err="1"/>
              <a:t>rakhta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Generator floors, rooms, corridors, stairs aur exits </a:t>
            </a:r>
            <a:r>
              <a:rPr lang="en-US" dirty="0" err="1"/>
              <a:t>banata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; seed incident target aur occupants ki safe starting rooms choose </a:t>
            </a:r>
            <a:r>
              <a:rPr lang="en-US" dirty="0" err="1"/>
              <a:t>karta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Rooms floors </a:t>
            </a:r>
            <a:r>
              <a:rPr lang="en-US" dirty="0" err="1"/>
              <a:t>mein</a:t>
            </a:r>
            <a:r>
              <a:rPr lang="en-US" dirty="0"/>
              <a:t> spread </a:t>
            </a:r>
            <a:r>
              <a:rPr lang="en-US" dirty="0" err="1"/>
              <a:t>hote</a:t>
            </a:r>
            <a:r>
              <a:rPr lang="en-US" dirty="0"/>
              <a:t> </a:t>
            </a:r>
            <a:r>
              <a:rPr lang="en-US" dirty="0" err="1"/>
              <a:t>hain</a:t>
            </a:r>
            <a:r>
              <a:rPr lang="en-US" dirty="0"/>
              <a:t>. </a:t>
            </a:r>
            <a:r>
              <a:rPr lang="en-US" dirty="0" err="1"/>
              <a:t>Yahan</a:t>
            </a:r>
            <a:r>
              <a:rPr lang="en-US" dirty="0"/>
              <a:t> respawn ka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en-US" dirty="0" err="1"/>
              <a:t>sirf</a:t>
            </a:r>
            <a:r>
              <a:rPr lang="en-US" dirty="0"/>
              <a:t> initial placement </a:t>
            </a:r>
            <a:r>
              <a:rPr lang="en-US" dirty="0" err="1"/>
              <a:t>hai</a:t>
            </a:r>
            <a:r>
              <a:rPr lang="en-US" dirty="0"/>
              <a:t>; run </a:t>
            </a:r>
            <a:r>
              <a:rPr lang="en-US" dirty="0" err="1"/>
              <a:t>ke</a:t>
            </a:r>
            <a:r>
              <a:rPr lang="en-US" dirty="0"/>
              <a:t> beech log teleport </a:t>
            </a:r>
            <a:r>
              <a:rPr lang="en-US" dirty="0" err="1"/>
              <a:t>ya</a:t>
            </a:r>
            <a:r>
              <a:rPr lang="en-US" dirty="0"/>
              <a:t> respawn </a:t>
            </a:r>
            <a:r>
              <a:rPr lang="en-US" dirty="0" err="1"/>
              <a:t>nahi</a:t>
            </a:r>
            <a:r>
              <a:rPr lang="en-US" dirty="0"/>
              <a:t> </a:t>
            </a:r>
            <a:r>
              <a:rPr lang="en-US" dirty="0" err="1"/>
              <a:t>hote</a:t>
            </a:r>
            <a:r>
              <a:rPr lang="en-US" dirty="0"/>
              <a:t>. Same seed se </a:t>
            </a:r>
            <a:r>
              <a:rPr lang="en-US" dirty="0" err="1"/>
              <a:t>wahi</a:t>
            </a:r>
            <a:r>
              <a:rPr lang="en-US" dirty="0"/>
              <a:t> setup </a:t>
            </a:r>
            <a:r>
              <a:rPr lang="en-US" dirty="0" err="1"/>
              <a:t>milta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1339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1:35–2:20 | Python standard library seeded randomness, movement aur </a:t>
            </a:r>
            <a:r>
              <a:rPr lang="en-US" dirty="0" err="1"/>
              <a:t>heapq</a:t>
            </a:r>
            <a:r>
              <a:rPr lang="en-US" dirty="0"/>
              <a:t> Dijkstra </a:t>
            </a:r>
            <a:r>
              <a:rPr lang="en-US" dirty="0" err="1"/>
              <a:t>chalati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</a:t>
            </a:r>
            <a:r>
              <a:rPr lang="en-US" dirty="0" err="1"/>
              <a:t>FastAPI</a:t>
            </a:r>
            <a:r>
              <a:rPr lang="en-US" dirty="0"/>
              <a:t>, </a:t>
            </a:r>
            <a:r>
              <a:rPr lang="en-US" dirty="0" err="1"/>
              <a:t>Pydantic</a:t>
            </a:r>
            <a:r>
              <a:rPr lang="en-US" dirty="0"/>
              <a:t> aur </a:t>
            </a:r>
            <a:r>
              <a:rPr lang="en-US" dirty="0" err="1"/>
              <a:t>Uvicorn</a:t>
            </a:r>
            <a:r>
              <a:rPr lang="en-US" dirty="0"/>
              <a:t> commands validate </a:t>
            </a:r>
            <a:r>
              <a:rPr lang="en-US" dirty="0" err="1"/>
              <a:t>karke</a:t>
            </a:r>
            <a:r>
              <a:rPr lang="en-US" dirty="0"/>
              <a:t> REST API serve </a:t>
            </a:r>
            <a:r>
              <a:rPr lang="en-US" dirty="0" err="1"/>
              <a:t>karte</a:t>
            </a:r>
            <a:r>
              <a:rPr lang="en-US" dirty="0"/>
              <a:t> </a:t>
            </a:r>
            <a:r>
              <a:rPr lang="en-US" dirty="0" err="1"/>
              <a:t>hain</a:t>
            </a:r>
            <a:r>
              <a:rPr lang="en-US" dirty="0"/>
              <a:t>; WebSocket live state </a:t>
            </a:r>
            <a:r>
              <a:rPr lang="en-US" dirty="0" err="1"/>
              <a:t>bhejta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React aur TypeScript controls </a:t>
            </a:r>
            <a:r>
              <a:rPr lang="en-US" dirty="0" err="1"/>
              <a:t>banate</a:t>
            </a:r>
            <a:r>
              <a:rPr lang="en-US" dirty="0"/>
              <a:t> </a:t>
            </a:r>
            <a:r>
              <a:rPr lang="en-US" dirty="0" err="1"/>
              <a:t>hain</a:t>
            </a:r>
            <a:r>
              <a:rPr lang="en-US" dirty="0"/>
              <a:t>. Three.js building render </a:t>
            </a:r>
            <a:r>
              <a:rPr lang="en-US" dirty="0" err="1"/>
              <a:t>karta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; React Three Fiber aur </a:t>
            </a:r>
            <a:r>
              <a:rPr lang="en-US" dirty="0" err="1"/>
              <a:t>Drei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React screen se </a:t>
            </a:r>
            <a:r>
              <a:rPr lang="en-US" dirty="0" err="1"/>
              <a:t>jodte</a:t>
            </a:r>
            <a:r>
              <a:rPr lang="en-US" dirty="0"/>
              <a:t> </a:t>
            </a:r>
            <a:r>
              <a:rPr lang="en-US" dirty="0" err="1"/>
              <a:t>hain</a:t>
            </a:r>
            <a:r>
              <a:rPr lang="en-US" dirty="0"/>
              <a:t>. Optional Hugging Face review facts ko summarize </a:t>
            </a:r>
            <a:r>
              <a:rPr lang="en-US" dirty="0" err="1"/>
              <a:t>karta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, routes </a:t>
            </a:r>
            <a:r>
              <a:rPr lang="en-US" dirty="0" err="1"/>
              <a:t>nahi</a:t>
            </a:r>
            <a:r>
              <a:rPr lang="en-US" dirty="0"/>
              <a:t> </a:t>
            </a:r>
            <a:r>
              <a:rPr lang="en-US" dirty="0" err="1"/>
              <a:t>chunta</a:t>
            </a:r>
            <a:r>
              <a:rPr lang="en-US" dirty="0"/>
              <a:t>; is demo </a:t>
            </a:r>
            <a:r>
              <a:rPr lang="en-US" dirty="0" err="1"/>
              <a:t>mein</a:t>
            </a:r>
            <a:r>
              <a:rPr lang="en-US" dirty="0"/>
              <a:t> disabled </a:t>
            </a:r>
            <a:r>
              <a:rPr lang="en-US" dirty="0" err="1"/>
              <a:t>hai</a:t>
            </a:r>
            <a:r>
              <a:rPr lang="en-US" dirty="0"/>
              <a:t>. AI ko optional </a:t>
            </a:r>
            <a:r>
              <a:rPr lang="en-US" dirty="0" err="1"/>
              <a:t>rakhne</a:t>
            </a:r>
            <a:r>
              <a:rPr lang="en-US" dirty="0"/>
              <a:t> se route calculation repeatable </a:t>
            </a:r>
            <a:r>
              <a:rPr lang="en-US" dirty="0" err="1"/>
              <a:t>rehti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aur review readable ho </a:t>
            </a:r>
            <a:r>
              <a:rPr lang="en-US" dirty="0" err="1"/>
              <a:t>sakta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Quick debrief </a:t>
            </a:r>
            <a:r>
              <a:rPr lang="en-US" dirty="0" err="1"/>
              <a:t>mein</a:t>
            </a:r>
            <a:r>
              <a:rPr lang="en-US" dirty="0"/>
              <a:t> model recorded hazards, blocked passages, queues aur route changes ko evidence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saath</a:t>
            </a:r>
            <a:r>
              <a:rPr lang="en-US" dirty="0"/>
              <a:t> summarize </a:t>
            </a:r>
            <a:r>
              <a:rPr lang="en-US" dirty="0" err="1"/>
              <a:t>kar</a:t>
            </a:r>
            <a:r>
              <a:rPr lang="en-US" dirty="0"/>
              <a:t> </a:t>
            </a:r>
            <a:r>
              <a:rPr lang="en-US" dirty="0" err="1"/>
              <a:t>sakta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Sources: https://fastapi.tiangolo.com/advanced/websockets/ ; https://threejs.org/docs/pages/WebGLRenderer.html.</a:t>
            </a:r>
          </a:p>
        </p:txBody>
      </p:sp>
    </p:spTree>
    <p:extLst>
      <p:ext uri="{BB962C8B-B14F-4D97-AF65-F5344CB8AC3E}">
        <p14:creationId xmlns:p14="http://schemas.microsoft.com/office/powerpoint/2010/main" val="1925715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2:20–3:00 | Screenshot wale run </a:t>
            </a:r>
            <a:r>
              <a:rPr lang="en-US" dirty="0" err="1"/>
              <a:t>mein</a:t>
            </a:r>
            <a:r>
              <a:rPr lang="en-US" dirty="0"/>
              <a:t> 15 log active the; </a:t>
            </a:r>
            <a:r>
              <a:rPr lang="en-US" dirty="0" err="1"/>
              <a:t>doosre</a:t>
            </a:r>
            <a:r>
              <a:rPr lang="en-US" dirty="0"/>
              <a:t> alarm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baad</a:t>
            </a:r>
            <a:r>
              <a:rPr lang="en-US" dirty="0"/>
              <a:t> 2 hazards aur 7 route changes hue. Initial hazard random room </a:t>
            </a:r>
            <a:r>
              <a:rPr lang="en-US" dirty="0" err="1"/>
              <a:t>ya</a:t>
            </a:r>
            <a:r>
              <a:rPr lang="en-US" dirty="0"/>
              <a:t> passage par 12–22 intensity se </a:t>
            </a:r>
            <a:r>
              <a:rPr lang="en-US" dirty="0" err="1"/>
              <a:t>shuru</a:t>
            </a:r>
            <a:r>
              <a:rPr lang="en-US" dirty="0"/>
              <a:t> </a:t>
            </a:r>
            <a:r>
              <a:rPr lang="en-US" dirty="0" err="1"/>
              <a:t>hokar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tick 2–4 </a:t>
            </a:r>
            <a:r>
              <a:rPr lang="en-US" dirty="0" err="1"/>
              <a:t>badhta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Intensity 35, 60, 85 par caution aur </a:t>
            </a:r>
            <a:r>
              <a:rPr lang="en-US" dirty="0" err="1"/>
              <a:t>paas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synthetic closures aa </a:t>
            </a:r>
            <a:r>
              <a:rPr lang="en-US" dirty="0" err="1"/>
              <a:t>sakte</a:t>
            </a:r>
            <a:r>
              <a:rPr lang="en-US" dirty="0"/>
              <a:t> </a:t>
            </a:r>
            <a:r>
              <a:rPr lang="en-US" dirty="0" err="1"/>
              <a:t>hain</a:t>
            </a:r>
            <a:r>
              <a:rPr lang="en-US" dirty="0"/>
              <a:t>. Alarm route ko </a:t>
            </a:r>
            <a:r>
              <a:rPr lang="en-US" dirty="0" err="1"/>
              <a:t>turant</a:t>
            </a:r>
            <a:r>
              <a:rPr lang="en-US" dirty="0"/>
              <a:t> recalculate </a:t>
            </a:r>
            <a:r>
              <a:rPr lang="en-US" dirty="0" err="1"/>
              <a:t>karata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; passage capacity queues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sakti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</a:t>
            </a:r>
            <a:r>
              <a:rPr lang="en-US" dirty="0" err="1"/>
              <a:t>Saare</a:t>
            </a:r>
            <a:r>
              <a:rPr lang="en-US" dirty="0"/>
              <a:t> occupants background </a:t>
            </a:r>
            <a:r>
              <a:rPr lang="en-US" dirty="0" err="1"/>
              <a:t>mein</a:t>
            </a:r>
            <a:r>
              <a:rPr lang="en-US" dirty="0"/>
              <a:t> move </a:t>
            </a:r>
            <a:r>
              <a:rPr lang="en-US" dirty="0" err="1"/>
              <a:t>karte</a:t>
            </a:r>
            <a:r>
              <a:rPr lang="en-US" dirty="0"/>
              <a:t> </a:t>
            </a:r>
            <a:r>
              <a:rPr lang="en-US" dirty="0" err="1"/>
              <a:t>hain</a:t>
            </a:r>
            <a:r>
              <a:rPr lang="en-US" dirty="0"/>
              <a:t>; selected person ka POV inspection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liye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 Yeh fire physics </a:t>
            </a:r>
            <a:r>
              <a:rPr lang="en-US" dirty="0" err="1"/>
              <a:t>nahi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3066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3:00–3:40 | Pathfinder </a:t>
            </a:r>
            <a:r>
              <a:rPr lang="en-US" dirty="0" err="1"/>
              <a:t>jaise</a:t>
            </a:r>
            <a:r>
              <a:rPr lang="en-US" dirty="0"/>
              <a:t> tools detailed agent movement aur egress analysis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liye</a:t>
            </a:r>
            <a:r>
              <a:rPr lang="en-US" dirty="0"/>
              <a:t> bane </a:t>
            </a:r>
            <a:r>
              <a:rPr lang="en-US" dirty="0" err="1"/>
              <a:t>hain</a:t>
            </a:r>
            <a:r>
              <a:rPr lang="en-US" dirty="0"/>
              <a:t>. AEGIS ka scope rapid seeded rehearsal </a:t>
            </a:r>
            <a:r>
              <a:rPr lang="en-US" dirty="0" err="1"/>
              <a:t>hai</a:t>
            </a:r>
            <a:r>
              <a:rPr lang="en-US" dirty="0"/>
              <a:t>: layout generate karo, alarm inject karo, person-level reroute </a:t>
            </a:r>
            <a:r>
              <a:rPr lang="en-US" dirty="0" err="1"/>
              <a:t>dekho</a:t>
            </a:r>
            <a:r>
              <a:rPr lang="en-US" dirty="0"/>
              <a:t>, setup replay karo. Hum universally better hone ka claim </a:t>
            </a:r>
            <a:r>
              <a:rPr lang="en-US" dirty="0" err="1"/>
              <a:t>nahi</a:t>
            </a:r>
            <a:r>
              <a:rPr lang="en-US" dirty="0"/>
              <a:t> </a:t>
            </a:r>
            <a:r>
              <a:rPr lang="en-US" dirty="0" err="1"/>
              <a:t>karte</a:t>
            </a:r>
            <a:r>
              <a:rPr lang="en-US" dirty="0"/>
              <a:t>; purpose aur validation </a:t>
            </a:r>
            <a:r>
              <a:rPr lang="en-US" dirty="0" err="1"/>
              <a:t>alag</a:t>
            </a:r>
            <a:r>
              <a:rPr lang="en-US" dirty="0"/>
              <a:t> </a:t>
            </a:r>
            <a:r>
              <a:rPr lang="en-US" dirty="0" err="1"/>
              <a:t>hain</a:t>
            </a:r>
            <a:r>
              <a:rPr lang="en-US" dirty="0"/>
              <a:t>. AEGIS certified engineering guidance </a:t>
            </a:r>
            <a:r>
              <a:rPr lang="en-US" dirty="0" err="1"/>
              <a:t>nahi</a:t>
            </a:r>
            <a:r>
              <a:rPr lang="en-US" dirty="0"/>
              <a:t>. Sources: https://www.thunderheadeng.com/pathfinder/ ; https://files.thunderheadeng.com/support/documents/pathfinder-technical-reference-manual-2024-2.pdf.</a:t>
            </a:r>
          </a:p>
        </p:txBody>
      </p:sp>
    </p:spTree>
    <p:extLst>
      <p:ext uri="{BB962C8B-B14F-4D97-AF65-F5344CB8AC3E}">
        <p14:creationId xmlns:p14="http://schemas.microsoft.com/office/powerpoint/2010/main" val="232936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3:40–4:25 | V nodes, E passages, P people </a:t>
            </a:r>
            <a:r>
              <a:rPr lang="en-US" dirty="0" err="1"/>
              <a:t>hain</a:t>
            </a:r>
            <a:r>
              <a:rPr lang="en-US" dirty="0"/>
              <a:t>. </a:t>
            </a:r>
            <a:r>
              <a:rPr lang="en-US" dirty="0" err="1"/>
              <a:t>Ek</a:t>
            </a:r>
            <a:r>
              <a:rPr lang="en-US" dirty="0"/>
              <a:t> weighted Dijkstra route search O((V+E) log V) </a:t>
            </a:r>
            <a:r>
              <a:rPr lang="en-US" dirty="0" err="1"/>
              <a:t>leta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; </a:t>
            </a:r>
            <a:r>
              <a:rPr lang="en-US" dirty="0" err="1"/>
              <a:t>sabke</a:t>
            </a:r>
            <a:r>
              <a:rPr lang="en-US" dirty="0"/>
              <a:t> </a:t>
            </a:r>
            <a:r>
              <a:rPr lang="en-US" dirty="0" err="1"/>
              <a:t>liye</a:t>
            </a:r>
            <a:r>
              <a:rPr lang="en-US" dirty="0"/>
              <a:t> replanning O(P(V+E) log V) </a:t>
            </a:r>
            <a:r>
              <a:rPr lang="en-US" dirty="0" err="1"/>
              <a:t>tak</a:t>
            </a:r>
            <a:r>
              <a:rPr lang="en-US" dirty="0"/>
              <a:t>. Search memory O(V+E), saved routes worst case O(PV). Generator limit par graph </a:t>
            </a:r>
            <a:r>
              <a:rPr lang="en-US" dirty="0" err="1"/>
              <a:t>lagbhag</a:t>
            </a:r>
            <a:r>
              <a:rPr lang="en-US" dirty="0"/>
              <a:t> 107 nodes, 110 passages aur 20 people ka </a:t>
            </a:r>
            <a:r>
              <a:rPr lang="en-US" dirty="0" err="1"/>
              <a:t>hai</a:t>
            </a:r>
            <a:r>
              <a:rPr lang="en-US" dirty="0"/>
              <a:t>. Yeh algorithmic complexity </a:t>
            </a:r>
            <a:r>
              <a:rPr lang="en-US" dirty="0" err="1"/>
              <a:t>hai</a:t>
            </a:r>
            <a:r>
              <a:rPr lang="en-US" dirty="0"/>
              <a:t>, real evacuation-time forecast </a:t>
            </a:r>
            <a:r>
              <a:rPr lang="en-US" dirty="0" err="1"/>
              <a:t>nahi</a:t>
            </a:r>
            <a:r>
              <a:rPr lang="en-US" dirty="0"/>
              <a:t>. AEGIS decisions ko visible aur </a:t>
            </a:r>
            <a:r>
              <a:rPr lang="en-US" dirty="0" err="1"/>
              <a:t>replayable</a:t>
            </a:r>
            <a:r>
              <a:rPr lang="en-US" dirty="0"/>
              <a:t> </a:t>
            </a:r>
            <a:r>
              <a:rPr lang="en-US" dirty="0" err="1"/>
              <a:t>banata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, safety certify </a:t>
            </a:r>
            <a:r>
              <a:rPr lang="en-US" dirty="0" err="1"/>
              <a:t>nahi</a:t>
            </a:r>
            <a:r>
              <a:rPr lang="en-US" dirty="0"/>
              <a:t> </a:t>
            </a:r>
            <a:r>
              <a:rPr lang="en-US" dirty="0" err="1"/>
              <a:t>karta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9731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EGIS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6096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100" b="1" dirty="0">
                <a:solidFill>
                  <a:srgbClr val="82909B"/>
                </a:solidFill>
                <a:latin typeface="Arial"/>
              </a:rPr>
              <a:t>HACKATHON PROJECT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6750" y="1581150"/>
            <a:ext cx="58102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6800" b="1" dirty="0">
                <a:solidFill>
                  <a:srgbClr val="1D2730"/>
                </a:solidFill>
                <a:latin typeface="Arial"/>
              </a:rPr>
              <a:t>AEGIS</a:t>
            </a:r>
            <a:endParaRPr lang="en-US" sz="6800"/>
          </a:p>
        </p:txBody>
      </p:sp>
      <p:sp>
        <p:nvSpPr>
          <p:cNvPr id="4" name="Text 4"/>
          <p:cNvSpPr txBox="1"/>
          <p:nvPr/>
        </p:nvSpPr>
        <p:spPr>
          <a:xfrm>
            <a:off x="723900" y="2628900"/>
            <a:ext cx="5715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500" b="1" dirty="0">
                <a:solidFill>
                  <a:srgbClr val="2E6FB4"/>
                </a:solidFill>
                <a:latin typeface="Arial"/>
              </a:rPr>
              <a:t>Every Second Counts.</a:t>
            </a:r>
            <a:endParaRPr lang="en-US" sz="2500"/>
          </a:p>
          <a:p>
            <a:pPr algn="l">
              <a:lnSpc>
                <a:spcPct val="108000"/>
              </a:lnSpc>
            </a:pPr>
            <a:r>
              <a:rPr lang="en-US" sz="2500" b="1" dirty="0">
                <a:solidFill>
                  <a:srgbClr val="2E6FB4"/>
                </a:solidFill>
                <a:latin typeface="Arial"/>
              </a:rPr>
              <a:t>Every Route Adapts.</a:t>
            </a:r>
            <a:endParaRPr lang="en-US" sz="2500"/>
          </a:p>
        </p:txBody>
      </p:sp>
      <p:sp>
        <p:nvSpPr>
          <p:cNvPr id="5" name="Text 5"/>
          <p:cNvSpPr txBox="1"/>
          <p:nvPr/>
        </p:nvSpPr>
        <p:spPr>
          <a:xfrm>
            <a:off x="723900" y="3743325"/>
            <a:ext cx="5143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dirty="0">
                <a:solidFill>
                  <a:srgbClr val="586772"/>
                </a:solidFill>
                <a:latin typeface="Arial"/>
              </a:rPr>
              <a:t>A local evacuation simulation that keeps people, hazards and route changes visible in one place.</a:t>
            </a:r>
            <a:endParaRPr lang="en-US" sz="1900"/>
          </a:p>
        </p:txBody>
      </p:sp>
      <p:sp>
        <p:nvSpPr>
          <p:cNvPr id="6" name="Text 6"/>
          <p:cNvSpPr txBox="1"/>
          <p:nvPr/>
        </p:nvSpPr>
        <p:spPr>
          <a:xfrm>
            <a:off x="723900" y="5429250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000" b="1" dirty="0">
                <a:solidFill>
                  <a:srgbClr val="82909B"/>
                </a:solidFill>
                <a:latin typeface="Arial"/>
              </a:rPr>
              <a:t>SEE THE INCIDENT  ·  INSPECT THE ROUTE  ·  REPLAY THE RUN</a:t>
            </a:r>
            <a:endParaRPr lang="en-US" sz="1000"/>
          </a:p>
        </p:txBody>
      </p:sp>
      <p:sp>
        <p:nvSpPr>
          <p:cNvPr id="7" name="Shape 7"/>
          <p:cNvSpPr/>
          <p:nvPr/>
        </p:nvSpPr>
        <p:spPr>
          <a:xfrm>
            <a:off x="6762750" y="1238250"/>
            <a:ext cx="4810125" cy="4305300"/>
          </a:xfrm>
          <a:prstGeom prst="roundRect">
            <a:avLst/>
          </a:prstGeom>
          <a:solidFill>
            <a:srgbClr val="F5F7F8"/>
          </a:solidFill>
          <a:ln w="9525">
            <a:solidFill>
              <a:srgbClr val="DCE3E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105650" y="1514475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600" b="1" dirty="0">
                <a:solidFill>
                  <a:srgbClr val="1D2730"/>
                </a:solidFill>
                <a:latin typeface="Arial"/>
              </a:rPr>
              <a:t>A changing floor plan, shown as a route graph</a:t>
            </a:r>
            <a:endParaRPr lang="en-US" sz="1600"/>
          </a:p>
        </p:txBody>
      </p:sp>
      <p:sp>
        <p:nvSpPr>
          <p:cNvPr id="9" name="Text 9"/>
          <p:cNvSpPr txBox="1"/>
          <p:nvPr/>
        </p:nvSpPr>
        <p:spPr>
          <a:xfrm>
            <a:off x="7124700" y="2143125"/>
            <a:ext cx="1447800" cy="167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000" b="1" dirty="0">
                <a:solidFill>
                  <a:srgbClr val="82909B"/>
                </a:solidFill>
                <a:latin typeface="Arial"/>
              </a:rPr>
              <a:t>GROUND FLOOR  ·  SIMULATED GRAPH</a:t>
            </a:r>
            <a:endParaRPr lang="en-US" sz="1000"/>
          </a:p>
        </p:txBody>
      </p:sp>
      <p:sp>
        <p:nvSpPr>
          <p:cNvPr id="10" name="Shape 10"/>
          <p:cNvSpPr/>
          <p:nvPr/>
        </p:nvSpPr>
        <p:spPr>
          <a:xfrm>
            <a:off x="7277100" y="2851785"/>
            <a:ext cx="876300" cy="30480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8153400" y="2851785"/>
            <a:ext cx="876300" cy="30480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9029700" y="2851785"/>
            <a:ext cx="876300" cy="30480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9906000" y="2851785"/>
            <a:ext cx="876300" cy="30480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7719060" y="2851785"/>
            <a:ext cx="434340" cy="30480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7703820" y="2867025"/>
            <a:ext cx="30480" cy="647700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9014460" y="2867025"/>
            <a:ext cx="30480" cy="647700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9906000" y="2851785"/>
            <a:ext cx="556260" cy="30480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10447020" y="2867025"/>
            <a:ext cx="30480" cy="647700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8968740" y="2836545"/>
            <a:ext cx="167640" cy="91440"/>
          </a:xfrm>
          <a:prstGeom prst="rect">
            <a:avLst/>
          </a:prstGeom>
          <a:solidFill>
            <a:srgbClr val="B64F4F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7277100" y="2851785"/>
            <a:ext cx="876300" cy="30480"/>
          </a:xfrm>
          <a:prstGeom prst="rect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7719060" y="2851785"/>
            <a:ext cx="434340" cy="30480"/>
          </a:xfrm>
          <a:prstGeom prst="rect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7703820" y="2867025"/>
            <a:ext cx="30480" cy="647700"/>
          </a:xfrm>
          <a:prstGeom prst="rect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7719060" y="3499485"/>
            <a:ext cx="1310640" cy="30480"/>
          </a:xfrm>
          <a:prstGeom prst="rect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7216140" y="2806065"/>
            <a:ext cx="121920" cy="12192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2E6FB4"/>
            </a:solidFill>
          </a:ln>
        </p:spPr>
      </p:sp>
      <p:sp>
        <p:nvSpPr>
          <p:cNvPr id="25" name="Shape 25"/>
          <p:cNvSpPr/>
          <p:nvPr/>
        </p:nvSpPr>
        <p:spPr>
          <a:xfrm>
            <a:off x="8092440" y="2806065"/>
            <a:ext cx="121920" cy="12192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2E6FB4"/>
            </a:solidFill>
          </a:ln>
        </p:spPr>
      </p:sp>
      <p:sp>
        <p:nvSpPr>
          <p:cNvPr id="26" name="Shape 26"/>
          <p:cNvSpPr/>
          <p:nvPr/>
        </p:nvSpPr>
        <p:spPr>
          <a:xfrm>
            <a:off x="8968740" y="2806065"/>
            <a:ext cx="121920" cy="12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E7"/>
            </a:solidFill>
          </a:ln>
        </p:spPr>
      </p:sp>
      <p:sp>
        <p:nvSpPr>
          <p:cNvPr id="27" name="Shape 27"/>
          <p:cNvSpPr/>
          <p:nvPr/>
        </p:nvSpPr>
        <p:spPr>
          <a:xfrm>
            <a:off x="9845040" y="2806065"/>
            <a:ext cx="121920" cy="12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E7"/>
            </a:solidFill>
          </a:ln>
        </p:spPr>
      </p:sp>
      <p:sp>
        <p:nvSpPr>
          <p:cNvPr id="28" name="Shape 28"/>
          <p:cNvSpPr/>
          <p:nvPr/>
        </p:nvSpPr>
        <p:spPr>
          <a:xfrm>
            <a:off x="10721340" y="2806065"/>
            <a:ext cx="121920" cy="12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E7"/>
            </a:solidFill>
          </a:ln>
        </p:spPr>
      </p:sp>
      <p:sp>
        <p:nvSpPr>
          <p:cNvPr id="29" name="Shape 29"/>
          <p:cNvSpPr/>
          <p:nvPr/>
        </p:nvSpPr>
        <p:spPr>
          <a:xfrm>
            <a:off x="7658100" y="3453765"/>
            <a:ext cx="121920" cy="12192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2E6FB4"/>
            </a:solidFill>
          </a:ln>
        </p:spPr>
      </p:sp>
      <p:sp>
        <p:nvSpPr>
          <p:cNvPr id="30" name="Shape 30"/>
          <p:cNvSpPr/>
          <p:nvPr/>
        </p:nvSpPr>
        <p:spPr>
          <a:xfrm>
            <a:off x="8968740" y="3453765"/>
            <a:ext cx="121920" cy="12192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2E6FB4"/>
            </a:solidFill>
          </a:ln>
        </p:spPr>
      </p:sp>
      <p:sp>
        <p:nvSpPr>
          <p:cNvPr id="31" name="Shape 31"/>
          <p:cNvSpPr/>
          <p:nvPr/>
        </p:nvSpPr>
        <p:spPr>
          <a:xfrm>
            <a:off x="10401300" y="3453765"/>
            <a:ext cx="121920" cy="12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E7"/>
            </a:solidFill>
          </a:ln>
        </p:spPr>
      </p:sp>
      <p:sp>
        <p:nvSpPr>
          <p:cNvPr id="32" name="Shape 32"/>
          <p:cNvSpPr/>
          <p:nvPr/>
        </p:nvSpPr>
        <p:spPr>
          <a:xfrm>
            <a:off x="7277100" y="2867025"/>
            <a:ext cx="91440" cy="91440"/>
          </a:xfrm>
          <a:prstGeom prst="ellipse">
            <a:avLst/>
          </a:prstGeom>
          <a:solidFill>
            <a:srgbClr val="34765B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8968740" y="3438525"/>
            <a:ext cx="91440" cy="91440"/>
          </a:xfrm>
          <a:prstGeom prst="ellipse">
            <a:avLst/>
          </a:prstGeom>
          <a:solidFill>
            <a:srgbClr val="7657A5"/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10706100" y="3423285"/>
            <a:ext cx="152400" cy="152400"/>
          </a:xfrm>
          <a:prstGeom prst="ellipse">
            <a:avLst/>
          </a:prstGeom>
          <a:solidFill>
            <a:srgbClr val="EAF3EE"/>
          </a:solidFill>
          <a:ln w="9525">
            <a:solidFill>
              <a:srgbClr val="34765B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10568940" y="3590925"/>
            <a:ext cx="5334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 dirty="0">
                <a:solidFill>
                  <a:srgbClr val="586772"/>
                </a:solidFill>
                <a:latin typeface="Arial"/>
              </a:rPr>
              <a:t>EXIT</a:t>
            </a:r>
            <a:endParaRPr lang="en-US" sz="900"/>
          </a:p>
        </p:txBody>
      </p:sp>
      <p:sp>
        <p:nvSpPr>
          <p:cNvPr id="36" name="Text 36"/>
          <p:cNvSpPr txBox="1"/>
          <p:nvPr/>
        </p:nvSpPr>
        <p:spPr>
          <a:xfrm>
            <a:off x="7124700" y="4229100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b="1" dirty="0">
                <a:solidFill>
                  <a:srgbClr val="2E6FB4"/>
                </a:solidFill>
                <a:latin typeface="Arial"/>
              </a:rPr>
              <a:t>Safe route</a:t>
            </a:r>
            <a:endParaRPr lang="en-US" sz="1400"/>
          </a:p>
        </p:txBody>
      </p:sp>
      <p:sp>
        <p:nvSpPr>
          <p:cNvPr id="37" name="Text 37"/>
          <p:cNvSpPr txBox="1"/>
          <p:nvPr/>
        </p:nvSpPr>
        <p:spPr>
          <a:xfrm>
            <a:off x="7124700" y="4543425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b="1" dirty="0">
                <a:solidFill>
                  <a:srgbClr val="B64F4F"/>
                </a:solidFill>
                <a:latin typeface="Arial"/>
              </a:rPr>
              <a:t>Closed passage</a:t>
            </a:r>
            <a:endParaRPr lang="en-US" sz="1400"/>
          </a:p>
        </p:txBody>
      </p:sp>
      <p:sp>
        <p:nvSpPr>
          <p:cNvPr id="38" name="Text 38"/>
          <p:cNvSpPr txBox="1"/>
          <p:nvPr/>
        </p:nvSpPr>
        <p:spPr>
          <a:xfrm>
            <a:off x="7124700" y="4857750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300" dirty="0">
                <a:solidFill>
                  <a:srgbClr val="586772"/>
                </a:solidFill>
                <a:latin typeface="Arial"/>
              </a:rPr>
              <a:t>Occupant  ·  selected person  ·  exit</a:t>
            </a:r>
            <a:endParaRPr lang="en-US" sz="1300"/>
          </a:p>
        </p:txBody>
      </p:sp>
      <p:sp>
        <p:nvSpPr>
          <p:cNvPr id="39" name="Shape 39"/>
          <p:cNvSpPr/>
          <p:nvPr/>
        </p:nvSpPr>
        <p:spPr>
          <a:xfrm>
            <a:off x="6924675" y="4314825"/>
            <a:ext cx="95250" cy="95250"/>
          </a:xfrm>
          <a:prstGeom prst="ellipse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40" name="Shape 40"/>
          <p:cNvSpPr/>
          <p:nvPr/>
        </p:nvSpPr>
        <p:spPr>
          <a:xfrm>
            <a:off x="6924675" y="4629150"/>
            <a:ext cx="95250" cy="95250"/>
          </a:xfrm>
          <a:prstGeom prst="ellipse">
            <a:avLst/>
          </a:prstGeom>
          <a:solidFill>
            <a:srgbClr val="B64F4F"/>
          </a:solidFill>
          <a:ln>
            <a:noFill/>
          </a:ln>
        </p:spPr>
      </p:sp>
      <p:sp>
        <p:nvSpPr>
          <p:cNvPr id="41" name="Shape 41"/>
          <p:cNvSpPr/>
          <p:nvPr/>
        </p:nvSpPr>
        <p:spPr>
          <a:xfrm>
            <a:off x="6924675" y="4943475"/>
            <a:ext cx="95250" cy="95250"/>
          </a:xfrm>
          <a:prstGeom prst="ellipse">
            <a:avLst/>
          </a:prstGeom>
          <a:solidFill>
            <a:srgbClr val="34765B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723900" y="61150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300" dirty="0">
                <a:solidFill>
                  <a:srgbClr val="586772"/>
                </a:solidFill>
                <a:latin typeface="Arial"/>
              </a:rPr>
              <a:t>Synthetic building data  ·  seeded scenarios  ·  deterministic route planning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533400" y="6505575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 dirty="0">
                <a:solidFill>
                  <a:srgbClr val="82909B"/>
                </a:solidFill>
                <a:latin typeface="Arial"/>
              </a:rPr>
              <a:t>AEGIS  ·  EVACUATION SIMULATION</a:t>
            </a:r>
            <a:endParaRPr lang="en-US" sz="900"/>
          </a:p>
        </p:txBody>
      </p:sp>
      <p:sp>
        <p:nvSpPr>
          <p:cNvPr id="44" name="Text 44"/>
          <p:cNvSpPr txBox="1"/>
          <p:nvPr/>
        </p:nvSpPr>
        <p:spPr>
          <a:xfrm>
            <a:off x="11144250" y="6505575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900" dirty="0">
                <a:solidFill>
                  <a:srgbClr val="82909B"/>
                </a:solidFill>
                <a:latin typeface="Arial"/>
              </a:rPr>
              <a:t>01 / 07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33400" y="400050"/>
            <a:ext cx="111252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900" b="1" dirty="0">
                <a:solidFill>
                  <a:srgbClr val="1D2730"/>
                </a:solidFill>
                <a:latin typeface="Arial"/>
              </a:rPr>
              <a:t>A route is only safe while its passages stay usable</a:t>
            </a:r>
            <a:endParaRPr lang="en-US" sz="2900"/>
          </a:p>
        </p:txBody>
      </p:sp>
      <p:sp>
        <p:nvSpPr>
          <p:cNvPr id="3" name="Text 3"/>
          <p:cNvSpPr txBox="1"/>
          <p:nvPr/>
        </p:nvSpPr>
        <p:spPr>
          <a:xfrm>
            <a:off x="552450" y="895350"/>
            <a:ext cx="10953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An alarm, blockage or queue can invalidate yesterday’s shortest path.</a:t>
            </a:r>
            <a:endParaRPr lang="en-US" sz="1500"/>
          </a:p>
        </p:txBody>
      </p:sp>
      <p:sp>
        <p:nvSpPr>
          <p:cNvPr id="4" name="Shape 4"/>
          <p:cNvSpPr/>
          <p:nvPr/>
        </p:nvSpPr>
        <p:spPr>
          <a:xfrm>
            <a:off x="533400" y="1581150"/>
            <a:ext cx="5619750" cy="4152900"/>
          </a:xfrm>
          <a:prstGeom prst="roundRect">
            <a:avLst/>
          </a:prstGeom>
          <a:solidFill>
            <a:srgbClr val="F5F7F8"/>
          </a:solidFill>
          <a:ln w="9525">
            <a:solidFill>
              <a:srgbClr val="DCE3E7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800100" y="1781175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600" b="1" dirty="0">
                <a:solidFill>
                  <a:srgbClr val="1D2730"/>
                </a:solidFill>
                <a:latin typeface="Arial"/>
              </a:rPr>
              <a:t>A small change can affect the whole group</a:t>
            </a:r>
            <a:endParaRPr lang="en-US" sz="1600"/>
          </a:p>
        </p:txBody>
      </p:sp>
      <p:sp>
        <p:nvSpPr>
          <p:cNvPr id="6" name="Text 6"/>
          <p:cNvSpPr txBox="1"/>
          <p:nvPr/>
        </p:nvSpPr>
        <p:spPr>
          <a:xfrm>
            <a:off x="895350" y="2190750"/>
            <a:ext cx="1646873" cy="1906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000" b="1" dirty="0">
                <a:solidFill>
                  <a:srgbClr val="82909B"/>
                </a:solidFill>
                <a:latin typeface="Arial"/>
              </a:rPr>
              <a:t>GROUND FLOOR  ·  SIMULATED GRAPH</a:t>
            </a:r>
            <a:endParaRPr lang="en-US" sz="1000"/>
          </a:p>
        </p:txBody>
      </p:sp>
      <p:sp>
        <p:nvSpPr>
          <p:cNvPr id="7" name="Shape 7"/>
          <p:cNvSpPr/>
          <p:nvPr/>
        </p:nvSpPr>
        <p:spPr>
          <a:xfrm>
            <a:off x="1068705" y="2996851"/>
            <a:ext cx="996791" cy="34671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2065496" y="2996851"/>
            <a:ext cx="996791" cy="34671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3062288" y="2996851"/>
            <a:ext cx="996791" cy="34671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4059079" y="2996851"/>
            <a:ext cx="996791" cy="34671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571435" y="2996851"/>
            <a:ext cx="494062" cy="34671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554099" y="3014186"/>
            <a:ext cx="34671" cy="736759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3044952" y="3014186"/>
            <a:ext cx="34671" cy="736759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4059079" y="2996851"/>
            <a:ext cx="632746" cy="34671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4674489" y="3014186"/>
            <a:ext cx="34671" cy="736759"/>
          </a:xfrm>
          <a:prstGeom prst="rect">
            <a:avLst/>
          </a:prstGeom>
          <a:solidFill>
            <a:srgbClr val="82909B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2992946" y="2979515"/>
            <a:ext cx="190691" cy="104013"/>
          </a:xfrm>
          <a:prstGeom prst="rect">
            <a:avLst/>
          </a:prstGeom>
          <a:solidFill>
            <a:srgbClr val="B64F4F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1068705" y="2996851"/>
            <a:ext cx="996791" cy="34671"/>
          </a:xfrm>
          <a:prstGeom prst="rect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1571435" y="2996851"/>
            <a:ext cx="494062" cy="34671"/>
          </a:xfrm>
          <a:prstGeom prst="rect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1554099" y="3014186"/>
            <a:ext cx="34671" cy="736759"/>
          </a:xfrm>
          <a:prstGeom prst="rect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1571435" y="3733610"/>
            <a:ext cx="1490853" cy="34671"/>
          </a:xfrm>
          <a:prstGeom prst="rect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999363" y="2944844"/>
            <a:ext cx="138684" cy="138684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2E6FB4"/>
            </a:solidFill>
          </a:ln>
        </p:spPr>
      </p:sp>
      <p:sp>
        <p:nvSpPr>
          <p:cNvPr id="22" name="Shape 22"/>
          <p:cNvSpPr/>
          <p:nvPr/>
        </p:nvSpPr>
        <p:spPr>
          <a:xfrm>
            <a:off x="1996154" y="2944844"/>
            <a:ext cx="138684" cy="138684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2E6FB4"/>
            </a:solidFill>
          </a:ln>
        </p:spPr>
      </p:sp>
      <p:sp>
        <p:nvSpPr>
          <p:cNvPr id="23" name="Shape 23"/>
          <p:cNvSpPr/>
          <p:nvPr/>
        </p:nvSpPr>
        <p:spPr>
          <a:xfrm>
            <a:off x="2992946" y="2944844"/>
            <a:ext cx="138684" cy="1386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E7"/>
            </a:solidFill>
          </a:ln>
        </p:spPr>
      </p:sp>
      <p:sp>
        <p:nvSpPr>
          <p:cNvPr id="24" name="Shape 24"/>
          <p:cNvSpPr/>
          <p:nvPr/>
        </p:nvSpPr>
        <p:spPr>
          <a:xfrm>
            <a:off x="3989737" y="2944844"/>
            <a:ext cx="138684" cy="1386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E7"/>
            </a:solidFill>
          </a:ln>
        </p:spPr>
      </p:sp>
      <p:sp>
        <p:nvSpPr>
          <p:cNvPr id="25" name="Shape 25"/>
          <p:cNvSpPr/>
          <p:nvPr/>
        </p:nvSpPr>
        <p:spPr>
          <a:xfrm>
            <a:off x="4986528" y="2944844"/>
            <a:ext cx="138684" cy="1386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E7"/>
            </a:solidFill>
          </a:ln>
        </p:spPr>
      </p:sp>
      <p:sp>
        <p:nvSpPr>
          <p:cNvPr id="26" name="Shape 26"/>
          <p:cNvSpPr/>
          <p:nvPr/>
        </p:nvSpPr>
        <p:spPr>
          <a:xfrm>
            <a:off x="1502093" y="3681603"/>
            <a:ext cx="138684" cy="138684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2E6FB4"/>
            </a:solidFill>
          </a:ln>
        </p:spPr>
      </p:sp>
      <p:sp>
        <p:nvSpPr>
          <p:cNvPr id="27" name="Shape 27"/>
          <p:cNvSpPr/>
          <p:nvPr/>
        </p:nvSpPr>
        <p:spPr>
          <a:xfrm>
            <a:off x="2992946" y="3681603"/>
            <a:ext cx="138684" cy="138684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2E6FB4"/>
            </a:solidFill>
          </a:ln>
        </p:spPr>
      </p:sp>
      <p:sp>
        <p:nvSpPr>
          <p:cNvPr id="28" name="Shape 28"/>
          <p:cNvSpPr/>
          <p:nvPr/>
        </p:nvSpPr>
        <p:spPr>
          <a:xfrm>
            <a:off x="4622483" y="3681603"/>
            <a:ext cx="138684" cy="1386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E7"/>
            </a:solidFill>
          </a:ln>
        </p:spPr>
      </p:sp>
      <p:sp>
        <p:nvSpPr>
          <p:cNvPr id="29" name="Shape 29"/>
          <p:cNvSpPr/>
          <p:nvPr/>
        </p:nvSpPr>
        <p:spPr>
          <a:xfrm>
            <a:off x="1068705" y="3014186"/>
            <a:ext cx="104013" cy="104013"/>
          </a:xfrm>
          <a:prstGeom prst="ellipse">
            <a:avLst/>
          </a:prstGeom>
          <a:solidFill>
            <a:srgbClr val="34765B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2992946" y="3664268"/>
            <a:ext cx="104013" cy="104013"/>
          </a:xfrm>
          <a:prstGeom prst="ellipse">
            <a:avLst/>
          </a:prstGeom>
          <a:solidFill>
            <a:srgbClr val="7657A5"/>
          </a:solidFill>
          <a:ln>
            <a:noFill/>
          </a:ln>
        </p:spPr>
      </p:sp>
      <p:sp>
        <p:nvSpPr>
          <p:cNvPr id="31" name="Shape 31"/>
          <p:cNvSpPr/>
          <p:nvPr/>
        </p:nvSpPr>
        <p:spPr>
          <a:xfrm>
            <a:off x="4969193" y="3646932"/>
            <a:ext cx="173355" cy="173355"/>
          </a:xfrm>
          <a:prstGeom prst="ellipse">
            <a:avLst/>
          </a:prstGeom>
          <a:solidFill>
            <a:srgbClr val="EAF3EE"/>
          </a:solidFill>
          <a:ln w="9525">
            <a:solidFill>
              <a:srgbClr val="34765B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4813173" y="3837623"/>
            <a:ext cx="606743" cy="156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 dirty="0">
                <a:solidFill>
                  <a:srgbClr val="586772"/>
                </a:solidFill>
                <a:latin typeface="Arial"/>
              </a:rPr>
              <a:t>EXIT</a:t>
            </a:r>
            <a:endParaRPr lang="en-US" sz="900"/>
          </a:p>
        </p:txBody>
      </p:sp>
      <p:sp>
        <p:nvSpPr>
          <p:cNvPr id="33" name="Text 33"/>
          <p:cNvSpPr txBox="1"/>
          <p:nvPr/>
        </p:nvSpPr>
        <p:spPr>
          <a:xfrm>
            <a:off x="819150" y="4229100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One corridor closes; an alternate passage remains open.</a:t>
            </a:r>
            <a:endParaRPr lang="en-US" sz="1400"/>
          </a:p>
        </p:txBody>
      </p:sp>
      <p:sp>
        <p:nvSpPr>
          <p:cNvPr id="34" name="Shape 34"/>
          <p:cNvSpPr/>
          <p:nvPr/>
        </p:nvSpPr>
        <p:spPr>
          <a:xfrm>
            <a:off x="819150" y="4791075"/>
            <a:ext cx="4953000" cy="9525"/>
          </a:xfrm>
          <a:prstGeom prst="rect">
            <a:avLst/>
          </a:prstGeom>
          <a:solidFill>
            <a:srgbClr val="DCE3E7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819150" y="5010150"/>
            <a:ext cx="476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600" b="1" dirty="0">
                <a:solidFill>
                  <a:srgbClr val="1D2730"/>
                </a:solidFill>
                <a:latin typeface="Arial"/>
              </a:rPr>
              <a:t>The question is not only “Which exit?” but also “Which safe route now?”</a:t>
            </a:r>
            <a:endParaRPr lang="en-US" sz="1600"/>
          </a:p>
        </p:txBody>
      </p:sp>
      <p:sp>
        <p:nvSpPr>
          <p:cNvPr id="36" name="Shape 36"/>
          <p:cNvSpPr/>
          <p:nvPr/>
        </p:nvSpPr>
        <p:spPr>
          <a:xfrm>
            <a:off x="6591300" y="1809750"/>
            <a:ext cx="400050" cy="400050"/>
          </a:xfrm>
          <a:prstGeom prst="ellipse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6591300" y="180975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sz="1100" b="1" dirty="0">
                <a:solidFill>
                  <a:srgbClr val="2E6FB4"/>
                </a:solidFill>
                <a:latin typeface="Arial"/>
              </a:rPr>
              <a:t>01</a:t>
            </a:r>
            <a:endParaRPr lang="en-US" sz="1100"/>
          </a:p>
        </p:txBody>
      </p:sp>
      <p:sp>
        <p:nvSpPr>
          <p:cNvPr id="38" name="Text 38"/>
          <p:cNvSpPr txBox="1"/>
          <p:nvPr/>
        </p:nvSpPr>
        <p:spPr>
          <a:xfrm>
            <a:off x="7162800" y="179070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800" b="1" dirty="0">
                <a:solidFill>
                  <a:srgbClr val="1D2730"/>
                </a:solidFill>
                <a:latin typeface="Arial"/>
              </a:rPr>
              <a:t>Detect</a:t>
            </a:r>
            <a:endParaRPr lang="en-US" sz="1800"/>
          </a:p>
        </p:txBody>
      </p:sp>
      <p:sp>
        <p:nvSpPr>
          <p:cNvPr id="39" name="Text 39"/>
          <p:cNvSpPr txBox="1"/>
          <p:nvPr/>
        </p:nvSpPr>
        <p:spPr>
          <a:xfrm>
            <a:off x="7162800" y="2105025"/>
            <a:ext cx="4095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A simulated sensor alarm marks a room or passage.</a:t>
            </a:r>
            <a:endParaRPr lang="en-US" sz="1500"/>
          </a:p>
        </p:txBody>
      </p:sp>
      <p:sp>
        <p:nvSpPr>
          <p:cNvPr id="40" name="Shape 40"/>
          <p:cNvSpPr/>
          <p:nvPr/>
        </p:nvSpPr>
        <p:spPr>
          <a:xfrm>
            <a:off x="6591300" y="3028950"/>
            <a:ext cx="400050" cy="400050"/>
          </a:xfrm>
          <a:prstGeom prst="ellipse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6591300" y="302895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sz="1100" b="1" dirty="0">
                <a:solidFill>
                  <a:srgbClr val="2E6FB4"/>
                </a:solidFill>
                <a:latin typeface="Arial"/>
              </a:rPr>
              <a:t>02</a:t>
            </a:r>
            <a:endParaRPr lang="en-US" sz="1100"/>
          </a:p>
        </p:txBody>
      </p:sp>
      <p:sp>
        <p:nvSpPr>
          <p:cNvPr id="42" name="Text 42"/>
          <p:cNvSpPr txBox="1"/>
          <p:nvPr/>
        </p:nvSpPr>
        <p:spPr>
          <a:xfrm>
            <a:off x="7162800" y="300990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800" b="1" dirty="0">
                <a:solidFill>
                  <a:srgbClr val="1D2730"/>
                </a:solidFill>
                <a:latin typeface="Arial"/>
              </a:rPr>
              <a:t>Recalculate</a:t>
            </a:r>
            <a:endParaRPr lang="en-US" sz="1800"/>
          </a:p>
        </p:txBody>
      </p:sp>
      <p:sp>
        <p:nvSpPr>
          <p:cNvPr id="43" name="Text 43"/>
          <p:cNvSpPr txBox="1"/>
          <p:nvPr/>
        </p:nvSpPr>
        <p:spPr>
          <a:xfrm>
            <a:off x="7162800" y="3324225"/>
            <a:ext cx="4095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The planner avoids closures and accounts for queues.</a:t>
            </a:r>
            <a:endParaRPr lang="en-US" sz="1500"/>
          </a:p>
        </p:txBody>
      </p:sp>
      <p:sp>
        <p:nvSpPr>
          <p:cNvPr id="44" name="Shape 44"/>
          <p:cNvSpPr/>
          <p:nvPr/>
        </p:nvSpPr>
        <p:spPr>
          <a:xfrm>
            <a:off x="6591300" y="4248150"/>
            <a:ext cx="400050" cy="400050"/>
          </a:xfrm>
          <a:prstGeom prst="ellipse">
            <a:avLst/>
          </a:prstGeom>
          <a:solidFill>
            <a:srgbClr val="EAF1F8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6591300" y="4248150"/>
            <a:ext cx="4000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sz="1100" b="1" dirty="0">
                <a:solidFill>
                  <a:srgbClr val="2E6FB4"/>
                </a:solidFill>
                <a:latin typeface="Arial"/>
              </a:rPr>
              <a:t>03</a:t>
            </a:r>
            <a:endParaRPr lang="en-US" sz="1100"/>
          </a:p>
        </p:txBody>
      </p:sp>
      <p:sp>
        <p:nvSpPr>
          <p:cNvPr id="46" name="Text 46"/>
          <p:cNvSpPr txBox="1"/>
          <p:nvPr/>
        </p:nvSpPr>
        <p:spPr>
          <a:xfrm>
            <a:off x="7162800" y="422910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800" b="1" dirty="0">
                <a:solidFill>
                  <a:srgbClr val="1D2730"/>
                </a:solidFill>
                <a:latin typeface="Arial"/>
              </a:rPr>
              <a:t>Guide</a:t>
            </a:r>
            <a:endParaRPr lang="en-US" sz="1800"/>
          </a:p>
        </p:txBody>
      </p:sp>
      <p:sp>
        <p:nvSpPr>
          <p:cNvPr id="47" name="Text 47"/>
          <p:cNvSpPr txBox="1"/>
          <p:nvPr/>
        </p:nvSpPr>
        <p:spPr>
          <a:xfrm>
            <a:off x="7162800" y="4543425"/>
            <a:ext cx="4095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A person’s route and next action update in the live view.</a:t>
            </a:r>
            <a:endParaRPr lang="en-US" sz="1500"/>
          </a:p>
        </p:txBody>
      </p:sp>
      <p:sp>
        <p:nvSpPr>
          <p:cNvPr id="48" name="Text 48"/>
          <p:cNvSpPr txBox="1"/>
          <p:nvPr/>
        </p:nvSpPr>
        <p:spPr>
          <a:xfrm>
            <a:off x="6610350" y="5505450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300" b="1" dirty="0">
                <a:solidFill>
                  <a:srgbClr val="34765B"/>
                </a:solidFill>
                <a:latin typeface="Arial"/>
              </a:rPr>
              <a:t>Use case: rehearse changing scenarios on generated buildings.</a:t>
            </a:r>
            <a:endParaRPr lang="en-US" sz="1300"/>
          </a:p>
        </p:txBody>
      </p:sp>
      <p:sp>
        <p:nvSpPr>
          <p:cNvPr id="49" name="Text 49"/>
          <p:cNvSpPr txBox="1"/>
          <p:nvPr/>
        </p:nvSpPr>
        <p:spPr>
          <a:xfrm>
            <a:off x="552450" y="5924550"/>
            <a:ext cx="10572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100" dirty="0">
                <a:solidFill>
                  <a:srgbClr val="82909B"/>
                </a:solidFill>
                <a:latin typeface="Arial"/>
              </a:rPr>
              <a:t>Buildings, sensor readings and incidents in the demo are synthetic.</a:t>
            </a:r>
            <a:endParaRPr lang="en-US" sz="1100"/>
          </a:p>
        </p:txBody>
      </p:sp>
      <p:sp>
        <p:nvSpPr>
          <p:cNvPr id="50" name="Text 50"/>
          <p:cNvSpPr txBox="1"/>
          <p:nvPr/>
        </p:nvSpPr>
        <p:spPr>
          <a:xfrm>
            <a:off x="533400" y="6505575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 dirty="0">
                <a:solidFill>
                  <a:srgbClr val="82909B"/>
                </a:solidFill>
                <a:latin typeface="Arial"/>
              </a:rPr>
              <a:t>AEGIS  ·  EVACUATION SIMULATION</a:t>
            </a:r>
            <a:endParaRPr lang="en-US" sz="900"/>
          </a:p>
        </p:txBody>
      </p:sp>
      <p:sp>
        <p:nvSpPr>
          <p:cNvPr id="51" name="Text 51"/>
          <p:cNvSpPr txBox="1"/>
          <p:nvPr/>
        </p:nvSpPr>
        <p:spPr>
          <a:xfrm>
            <a:off x="11144250" y="6505575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900" dirty="0">
                <a:solidFill>
                  <a:srgbClr val="82909B"/>
                </a:solidFill>
                <a:latin typeface="Arial"/>
              </a:rPr>
              <a:t>02 / 07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33400" y="400050"/>
            <a:ext cx="111252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900" b="1" dirty="0">
                <a:solidFill>
                  <a:srgbClr val="1D2730"/>
                </a:solidFill>
                <a:latin typeface="Arial"/>
              </a:rPr>
              <a:t>One seed creates a replayable building and incident</a:t>
            </a:r>
            <a:endParaRPr lang="en-US" sz="2900"/>
          </a:p>
        </p:txBody>
      </p:sp>
      <p:sp>
        <p:nvSpPr>
          <p:cNvPr id="3" name="Text 3"/>
          <p:cNvSpPr txBox="1"/>
          <p:nvPr/>
        </p:nvSpPr>
        <p:spPr>
          <a:xfrm>
            <a:off x="552450" y="895350"/>
            <a:ext cx="10953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The same seed reproduces the generated layout, hazard and starting placements.</a:t>
            </a:r>
            <a:endParaRPr lang="en-US" sz="1500"/>
          </a:p>
        </p:txBody>
      </p:sp>
      <p:sp>
        <p:nvSpPr>
          <p:cNvPr id="4" name="Shape 4"/>
          <p:cNvSpPr/>
          <p:nvPr/>
        </p:nvSpPr>
        <p:spPr>
          <a:xfrm>
            <a:off x="457200" y="1438275"/>
            <a:ext cx="5657850" cy="4933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E7"/>
            </a:solidFill>
          </a:ln>
        </p:spPr>
      </p:sp>
      <p:pic>
        <p:nvPicPr>
          <p:cNvPr id="5" name="AEGIS generated four-floor school scenario with selected person's route" descr="AEGIS generated four-floor school scenario with selected person's route"/>
          <p:cNvPicPr>
            <a:picLocks noChangeAspect="1"/>
          </p:cNvPicPr>
          <p:nvPr/>
        </p:nvPicPr>
        <p:blipFill>
          <a:blip r:embed="rId3"/>
          <a:srcRect l="4500" t="15500" r="39200" b="24000"/>
          <a:stretch>
            <a:fillRect/>
          </a:stretch>
        </p:blipFill>
        <p:spPr>
          <a:xfrm>
            <a:off x="552450" y="1504950"/>
            <a:ext cx="5467350" cy="4933950"/>
          </a:xfrm>
          <a:prstGeom prst="rect">
            <a:avLst/>
          </a:prstGeom>
          <a:ln w="9525">
            <a:solidFill>
              <a:srgbClr val="DCE3E7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6362700" y="1571625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500" b="1" dirty="0">
                <a:solidFill>
                  <a:srgbClr val="1D2730"/>
                </a:solidFill>
                <a:latin typeface="Arial"/>
              </a:rPr>
              <a:t>Seed 1,992,440,700</a:t>
            </a:r>
            <a:endParaRPr lang="en-US" sz="2500"/>
          </a:p>
        </p:txBody>
      </p:sp>
      <p:sp>
        <p:nvSpPr>
          <p:cNvPr id="7" name="Text 7"/>
          <p:cNvSpPr txBox="1"/>
          <p:nvPr/>
        </p:nvSpPr>
        <p:spPr>
          <a:xfrm>
            <a:off x="6381750" y="20574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300" dirty="0">
                <a:solidFill>
                  <a:srgbClr val="586772"/>
                </a:solidFill>
                <a:latin typeface="Arial"/>
              </a:rPr>
              <a:t>School  ·  4 floors  ·  5 rooms per wing  ·  15 people</a:t>
            </a:r>
            <a:endParaRPr lang="en-US" sz="1300"/>
          </a:p>
        </p:txBody>
      </p:sp>
      <p:sp>
        <p:nvSpPr>
          <p:cNvPr id="8" name="Shape 8"/>
          <p:cNvSpPr/>
          <p:nvPr/>
        </p:nvSpPr>
        <p:spPr>
          <a:xfrm>
            <a:off x="6400800" y="2705100"/>
            <a:ext cx="47625" cy="609600"/>
          </a:xfrm>
          <a:prstGeom prst="rect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6610350" y="2705100"/>
            <a:ext cx="1295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 dirty="0">
                <a:solidFill>
                  <a:srgbClr val="1D2730"/>
                </a:solidFill>
                <a:latin typeface="Arial"/>
              </a:rPr>
              <a:t>Layout</a:t>
            </a:r>
            <a:endParaRPr lang="en-US" sz="1500"/>
          </a:p>
        </p:txBody>
      </p:sp>
      <p:sp>
        <p:nvSpPr>
          <p:cNvPr id="10" name="Text 10"/>
          <p:cNvSpPr txBox="1"/>
          <p:nvPr/>
        </p:nvSpPr>
        <p:spPr>
          <a:xfrm>
            <a:off x="7905750" y="2705100"/>
            <a:ext cx="32385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Seeded floors, rooms, junctions, stairs and exits.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6400800" y="3448050"/>
            <a:ext cx="47625" cy="609600"/>
          </a:xfrm>
          <a:prstGeom prst="rect">
            <a:avLst/>
          </a:prstGeom>
          <a:solidFill>
            <a:srgbClr val="B64F4F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610350" y="3448050"/>
            <a:ext cx="1295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 dirty="0">
                <a:solidFill>
                  <a:srgbClr val="1D2730"/>
                </a:solidFill>
                <a:latin typeface="Arial"/>
              </a:rPr>
              <a:t>Incident</a:t>
            </a:r>
            <a:endParaRPr lang="en-US" sz="1500"/>
          </a:p>
        </p:txBody>
      </p:sp>
      <p:sp>
        <p:nvSpPr>
          <p:cNvPr id="13" name="Text 13"/>
          <p:cNvSpPr txBox="1"/>
          <p:nvPr/>
        </p:nvSpPr>
        <p:spPr>
          <a:xfrm>
            <a:off x="7905750" y="3448050"/>
            <a:ext cx="32385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Chosen type; seeded random target location.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6400800" y="4191000"/>
            <a:ext cx="47625" cy="609600"/>
          </a:xfrm>
          <a:prstGeom prst="rect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610350" y="4191000"/>
            <a:ext cx="1295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 dirty="0">
                <a:solidFill>
                  <a:srgbClr val="1D2730"/>
                </a:solidFill>
                <a:latin typeface="Arial"/>
              </a:rPr>
              <a:t>People</a:t>
            </a:r>
            <a:endParaRPr lang="en-US" sz="1500"/>
          </a:p>
        </p:txBody>
      </p:sp>
      <p:sp>
        <p:nvSpPr>
          <p:cNvPr id="16" name="Text 16"/>
          <p:cNvSpPr txBox="1"/>
          <p:nvPr/>
        </p:nvSpPr>
        <p:spPr>
          <a:xfrm>
            <a:off x="7905750" y="4191000"/>
            <a:ext cx="32385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Safe rooms are shuffled and spread across floors.</a:t>
            </a: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6400800" y="4933950"/>
            <a:ext cx="47625" cy="609600"/>
          </a:xfrm>
          <a:prstGeom prst="rect">
            <a:avLst/>
          </a:prstGeom>
          <a:solidFill>
            <a:srgbClr val="2E6FB4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610350" y="4933950"/>
            <a:ext cx="1295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 dirty="0">
                <a:solidFill>
                  <a:srgbClr val="1D2730"/>
                </a:solidFill>
                <a:latin typeface="Arial"/>
              </a:rPr>
              <a:t>Replay</a:t>
            </a:r>
            <a:endParaRPr lang="en-US" sz="1500"/>
          </a:p>
        </p:txBody>
      </p:sp>
      <p:sp>
        <p:nvSpPr>
          <p:cNvPr id="19" name="Text 19"/>
          <p:cNvSpPr txBox="1"/>
          <p:nvPr/>
        </p:nvSpPr>
        <p:spPr>
          <a:xfrm>
            <a:off x="7905750" y="4933950"/>
            <a:ext cx="32385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Reuse the seed to reproduce the same setup.</a:t>
            </a: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6381750" y="5715000"/>
            <a:ext cx="4991100" cy="466725"/>
          </a:xfrm>
          <a:prstGeom prst="roundRect">
            <a:avLst/>
          </a:prstGeom>
          <a:solidFill>
            <a:srgbClr val="F7F2E5"/>
          </a:solidFill>
          <a:ln w="9525">
            <a:solidFill>
              <a:srgbClr val="F7F2E5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6543675" y="5772150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b="1" dirty="0">
                <a:solidFill>
                  <a:srgbClr val="1D2730"/>
                </a:solidFill>
                <a:latin typeface="Arial"/>
              </a:rPr>
              <a:t>“Random respawn” is initial placement; no in-run respawn.</a:t>
            </a:r>
            <a:endParaRPr lang="en-US" sz="1200"/>
          </a:p>
        </p:txBody>
      </p:sp>
      <p:sp>
        <p:nvSpPr>
          <p:cNvPr id="22" name="Text 22"/>
          <p:cNvSpPr txBox="1"/>
          <p:nvPr/>
        </p:nvSpPr>
        <p:spPr>
          <a:xfrm>
            <a:off x="533400" y="6505575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 dirty="0">
                <a:solidFill>
                  <a:srgbClr val="82909B"/>
                </a:solidFill>
                <a:latin typeface="Arial"/>
              </a:rPr>
              <a:t>AEGIS  ·  EVACUATION SIMULATION</a:t>
            </a:r>
            <a:endParaRPr lang="en-US" sz="900"/>
          </a:p>
        </p:txBody>
      </p:sp>
      <p:sp>
        <p:nvSpPr>
          <p:cNvPr id="23" name="Text 23"/>
          <p:cNvSpPr txBox="1"/>
          <p:nvPr/>
        </p:nvSpPr>
        <p:spPr>
          <a:xfrm>
            <a:off x="11144250" y="6505575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900" dirty="0">
                <a:solidFill>
                  <a:srgbClr val="82909B"/>
                </a:solidFill>
                <a:latin typeface="Arial"/>
              </a:rPr>
              <a:t>03 / 07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33400" y="400050"/>
            <a:ext cx="111252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900" b="1" dirty="0">
                <a:solidFill>
                  <a:srgbClr val="1D2730"/>
                </a:solidFill>
                <a:latin typeface="Arial"/>
              </a:rPr>
              <a:t>Separate roles keep the simulation explainable</a:t>
            </a:r>
            <a:endParaRPr lang="en-US" sz="2900"/>
          </a:p>
        </p:txBody>
      </p:sp>
      <p:sp>
        <p:nvSpPr>
          <p:cNvPr id="3" name="Text 3"/>
          <p:cNvSpPr txBox="1"/>
          <p:nvPr/>
        </p:nvSpPr>
        <p:spPr>
          <a:xfrm>
            <a:off x="552450" y="895350"/>
            <a:ext cx="10953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Python computes the scenario; the web client shows it continuously; AI is optional.</a:t>
            </a:r>
            <a:endParaRPr lang="en-US" sz="1500"/>
          </a:p>
        </p:txBody>
      </p:sp>
      <p:sp>
        <p:nvSpPr>
          <p:cNvPr id="4" name="Shape 4"/>
          <p:cNvSpPr/>
          <p:nvPr/>
        </p:nvSpPr>
        <p:spPr>
          <a:xfrm>
            <a:off x="533400" y="1581150"/>
            <a:ext cx="2514600" cy="2495550"/>
          </a:xfrm>
          <a:prstGeom prst="roundRect">
            <a:avLst/>
          </a:prstGeom>
          <a:solidFill>
            <a:srgbClr val="F5F7F8"/>
          </a:solidFill>
          <a:ln w="9525">
            <a:solidFill>
              <a:srgbClr val="DCE3E7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723900" y="1790700"/>
            <a:ext cx="2143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000" b="1" dirty="0">
                <a:solidFill>
                  <a:srgbClr val="1D2730"/>
                </a:solidFill>
                <a:latin typeface="Arial"/>
              </a:rPr>
              <a:t>Python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723900" y="215265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b="1" dirty="0">
                <a:solidFill>
                  <a:srgbClr val="2E6FB4"/>
                </a:solidFill>
                <a:latin typeface="Arial"/>
              </a:rPr>
              <a:t>Simulation core</a:t>
            </a:r>
            <a:endParaRPr lang="en-US" sz="1200"/>
          </a:p>
        </p:txBody>
      </p:sp>
      <p:sp>
        <p:nvSpPr>
          <p:cNvPr id="7" name="Shape 7"/>
          <p:cNvSpPr/>
          <p:nvPr/>
        </p:nvSpPr>
        <p:spPr>
          <a:xfrm>
            <a:off x="723900" y="2524125"/>
            <a:ext cx="2133600" cy="9525"/>
          </a:xfrm>
          <a:prstGeom prst="rect">
            <a:avLst/>
          </a:prstGeom>
          <a:solidFill>
            <a:srgbClr val="DCE3E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723900" y="2695575"/>
            <a:ext cx="2143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Seeded random layouts</a:t>
            </a:r>
            <a:endParaRPr lang="en-US" sz="1400"/>
          </a:p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Graph state and movement</a:t>
            </a:r>
            <a:endParaRPr lang="en-US" sz="1400"/>
          </a:p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heapq-based Dijkstra</a:t>
            </a:r>
            <a:endParaRPr lang="en-US" sz="1400"/>
          </a:p>
        </p:txBody>
      </p:sp>
      <p:sp>
        <p:nvSpPr>
          <p:cNvPr id="9" name="Shape 9"/>
          <p:cNvSpPr/>
          <p:nvPr/>
        </p:nvSpPr>
        <p:spPr>
          <a:xfrm>
            <a:off x="3333750" y="1581150"/>
            <a:ext cx="2514600" cy="2495550"/>
          </a:xfrm>
          <a:prstGeom prst="roundRect">
            <a:avLst/>
          </a:prstGeom>
          <a:solidFill>
            <a:srgbClr val="F5F7F8"/>
          </a:solidFill>
          <a:ln w="9525">
            <a:solidFill>
              <a:srgbClr val="DCE3E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524250" y="1790700"/>
            <a:ext cx="2143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000" b="1" dirty="0">
                <a:solidFill>
                  <a:srgbClr val="1D2730"/>
                </a:solidFill>
                <a:latin typeface="Arial"/>
              </a:rPr>
              <a:t>FastAPI</a:t>
            </a:r>
            <a:endParaRPr lang="en-US" sz="2000"/>
          </a:p>
        </p:txBody>
      </p:sp>
      <p:sp>
        <p:nvSpPr>
          <p:cNvPr id="11" name="Text 11"/>
          <p:cNvSpPr txBox="1"/>
          <p:nvPr/>
        </p:nvSpPr>
        <p:spPr>
          <a:xfrm>
            <a:off x="3524250" y="215265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b="1" dirty="0">
                <a:solidFill>
                  <a:srgbClr val="2E6FB4"/>
                </a:solidFill>
                <a:latin typeface="Arial"/>
              </a:rPr>
              <a:t>Local service layer</a:t>
            </a:r>
            <a:endParaRPr lang="en-US" sz="1200"/>
          </a:p>
        </p:txBody>
      </p:sp>
      <p:sp>
        <p:nvSpPr>
          <p:cNvPr id="12" name="Shape 12"/>
          <p:cNvSpPr/>
          <p:nvPr/>
        </p:nvSpPr>
        <p:spPr>
          <a:xfrm>
            <a:off x="3524250" y="2524125"/>
            <a:ext cx="2133600" cy="9525"/>
          </a:xfrm>
          <a:prstGeom prst="rect">
            <a:avLst/>
          </a:prstGeom>
          <a:solidFill>
            <a:srgbClr val="DCE3E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3524250" y="2695575"/>
            <a:ext cx="2143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Pydantic request checks</a:t>
            </a:r>
            <a:endParaRPr lang="en-US" sz="1400"/>
          </a:p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REST commands</a:t>
            </a:r>
            <a:endParaRPr lang="en-US" sz="1400"/>
          </a:p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WebSocket snapshots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6134100" y="1581150"/>
            <a:ext cx="2514600" cy="2495550"/>
          </a:xfrm>
          <a:prstGeom prst="roundRect">
            <a:avLst/>
          </a:prstGeom>
          <a:solidFill>
            <a:srgbClr val="F5F7F8"/>
          </a:solidFill>
          <a:ln w="9525">
            <a:solidFill>
              <a:srgbClr val="DCE3E7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6324600" y="1790700"/>
            <a:ext cx="2143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000" b="1" dirty="0">
                <a:solidFill>
                  <a:srgbClr val="1D2730"/>
                </a:solidFill>
                <a:latin typeface="Arial"/>
              </a:rPr>
              <a:t>React / TS</a:t>
            </a:r>
            <a:endParaRPr lang="en-US" sz="2000"/>
          </a:p>
        </p:txBody>
      </p:sp>
      <p:sp>
        <p:nvSpPr>
          <p:cNvPr id="16" name="Text 16"/>
          <p:cNvSpPr txBox="1"/>
          <p:nvPr/>
        </p:nvSpPr>
        <p:spPr>
          <a:xfrm>
            <a:off x="6324600" y="215265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b="1" dirty="0">
                <a:solidFill>
                  <a:srgbClr val="2E6FB4"/>
                </a:solidFill>
                <a:latin typeface="Arial"/>
              </a:rPr>
              <a:t>Operator interface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6324600" y="2524125"/>
            <a:ext cx="2133600" cy="9525"/>
          </a:xfrm>
          <a:prstGeom prst="rect">
            <a:avLst/>
          </a:prstGeom>
          <a:solidFill>
            <a:srgbClr val="DCE3E7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324600" y="2695575"/>
            <a:ext cx="2143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Scenario controls</a:t>
            </a:r>
            <a:endParaRPr lang="en-US" sz="1400"/>
          </a:p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Person selection</a:t>
            </a:r>
            <a:endParaRPr lang="en-US" sz="1400"/>
          </a:p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Live status and timeline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8934450" y="1581150"/>
            <a:ext cx="2514600" cy="2495550"/>
          </a:xfrm>
          <a:prstGeom prst="roundRect">
            <a:avLst/>
          </a:prstGeom>
          <a:solidFill>
            <a:srgbClr val="F5F7F8"/>
          </a:solidFill>
          <a:ln w="9525">
            <a:solidFill>
              <a:srgbClr val="DCE3E7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124950" y="1790700"/>
            <a:ext cx="2143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000" b="1" dirty="0">
                <a:solidFill>
                  <a:srgbClr val="1D2730"/>
                </a:solidFill>
                <a:latin typeface="Arial"/>
              </a:rPr>
              <a:t>Three.js</a:t>
            </a:r>
            <a:endParaRPr lang="en-US" sz="2000"/>
          </a:p>
        </p:txBody>
      </p:sp>
      <p:sp>
        <p:nvSpPr>
          <p:cNvPr id="21" name="Text 21"/>
          <p:cNvSpPr txBox="1"/>
          <p:nvPr/>
        </p:nvSpPr>
        <p:spPr>
          <a:xfrm>
            <a:off x="9124950" y="215265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b="1" dirty="0">
                <a:solidFill>
                  <a:srgbClr val="2E6FB4"/>
                </a:solidFill>
                <a:latin typeface="Arial"/>
              </a:rPr>
              <a:t>3D scene</a:t>
            </a:r>
            <a:endParaRPr lang="en-US" sz="1200"/>
          </a:p>
        </p:txBody>
      </p:sp>
      <p:sp>
        <p:nvSpPr>
          <p:cNvPr id="22" name="Shape 22"/>
          <p:cNvSpPr/>
          <p:nvPr/>
        </p:nvSpPr>
        <p:spPr>
          <a:xfrm>
            <a:off x="9124950" y="2524125"/>
            <a:ext cx="2133600" cy="9525"/>
          </a:xfrm>
          <a:prstGeom prst="rect">
            <a:avLst/>
          </a:prstGeom>
          <a:solidFill>
            <a:srgbClr val="DCE3E7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124950" y="2695575"/>
            <a:ext cx="2143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React Three Fiber</a:t>
            </a:r>
            <a:endParaRPr lang="en-US" sz="1400"/>
          </a:p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Drei helpers</a:t>
            </a:r>
            <a:endParaRPr lang="en-US" sz="1400"/>
          </a:p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Animated floor view</a:t>
            </a:r>
            <a:endParaRPr lang="en-US" sz="1400"/>
          </a:p>
        </p:txBody>
      </p:sp>
      <p:sp>
        <p:nvSpPr>
          <p:cNvPr id="24" name="Text 24"/>
          <p:cNvSpPr txBox="1"/>
          <p:nvPr/>
        </p:nvSpPr>
        <p:spPr>
          <a:xfrm>
            <a:off x="3086100" y="2533650"/>
            <a:ext cx="2476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sz="2200" b="1" dirty="0">
                <a:solidFill>
                  <a:srgbClr val="2E6FB4"/>
                </a:solidFill>
                <a:latin typeface="Arial"/>
              </a:rPr>
              <a:t>→</a:t>
            </a:r>
            <a:endParaRPr lang="en-US" sz="2200"/>
          </a:p>
        </p:txBody>
      </p:sp>
      <p:sp>
        <p:nvSpPr>
          <p:cNvPr id="25" name="Text 25"/>
          <p:cNvSpPr txBox="1"/>
          <p:nvPr/>
        </p:nvSpPr>
        <p:spPr>
          <a:xfrm>
            <a:off x="5886450" y="2533650"/>
            <a:ext cx="2476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sz="2200" b="1" dirty="0">
                <a:solidFill>
                  <a:srgbClr val="2E6FB4"/>
                </a:solidFill>
                <a:latin typeface="Arial"/>
              </a:rPr>
              <a:t>→</a:t>
            </a:r>
            <a:endParaRPr lang="en-US" sz="2200"/>
          </a:p>
        </p:txBody>
      </p:sp>
      <p:sp>
        <p:nvSpPr>
          <p:cNvPr id="26" name="Text 26"/>
          <p:cNvSpPr txBox="1"/>
          <p:nvPr/>
        </p:nvSpPr>
        <p:spPr>
          <a:xfrm>
            <a:off x="8686800" y="2533650"/>
            <a:ext cx="2476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sz="2200" b="1" dirty="0">
                <a:solidFill>
                  <a:srgbClr val="2E6FB4"/>
                </a:solidFill>
                <a:latin typeface="Arial"/>
              </a:rPr>
              <a:t>→</a:t>
            </a:r>
            <a:endParaRPr lang="en-US" sz="2200"/>
          </a:p>
        </p:txBody>
      </p:sp>
      <p:sp>
        <p:nvSpPr>
          <p:cNvPr id="27" name="Text 27"/>
          <p:cNvSpPr txBox="1"/>
          <p:nvPr/>
        </p:nvSpPr>
        <p:spPr>
          <a:xfrm>
            <a:off x="552450" y="4295775"/>
            <a:ext cx="10858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dirty="0">
                <a:solidFill>
                  <a:srgbClr val="586772"/>
                </a:solidFill>
                <a:latin typeface="Arial"/>
              </a:rPr>
              <a:t>API dependencies: FastAPI, Pydantic, Uvicorn   ·   Web: React, TypeScript, Vite, Three.js, React Three Fiber, Drei</a:t>
            </a:r>
            <a:endParaRPr lang="en-US" sz="1200"/>
          </a:p>
        </p:txBody>
      </p:sp>
      <p:sp>
        <p:nvSpPr>
          <p:cNvPr id="28" name="Shape 28"/>
          <p:cNvSpPr/>
          <p:nvPr/>
        </p:nvSpPr>
        <p:spPr>
          <a:xfrm>
            <a:off x="533400" y="4724400"/>
            <a:ext cx="11125200" cy="1323975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EAF1F8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762000" y="4895850"/>
            <a:ext cx="32385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600" b="1" dirty="0">
                <a:solidFill>
                  <a:srgbClr val="264A67"/>
                </a:solidFill>
                <a:latin typeface="Arial"/>
              </a:rPr>
              <a:t>Optional AI review</a:t>
            </a:r>
            <a:endParaRPr lang="en-US" sz="1600"/>
          </a:p>
        </p:txBody>
      </p:sp>
      <p:sp>
        <p:nvSpPr>
          <p:cNvPr id="30" name="Text 30"/>
          <p:cNvSpPr txBox="1"/>
          <p:nvPr/>
        </p:nvSpPr>
        <p:spPr>
          <a:xfrm>
            <a:off x="762000" y="5219700"/>
            <a:ext cx="103822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1D2730"/>
                </a:solidFill>
                <a:latin typeface="Arial"/>
              </a:rPr>
              <a:t>An optional Hugging Face model reads simulation facts and returns evidence-linked checks; routing stays deterministic. It uses Python’s standard-library HTTP client and is disabled here until HF_TOKEN and HF_MODEL are set.</a:t>
            </a:r>
            <a:endParaRPr lang="en-US" sz="1400"/>
          </a:p>
        </p:txBody>
      </p:sp>
      <p:sp>
        <p:nvSpPr>
          <p:cNvPr id="31" name="Text 31"/>
          <p:cNvSpPr txBox="1"/>
          <p:nvPr/>
        </p:nvSpPr>
        <p:spPr>
          <a:xfrm>
            <a:off x="533400" y="6505575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 dirty="0">
                <a:solidFill>
                  <a:srgbClr val="82909B"/>
                </a:solidFill>
                <a:latin typeface="Arial"/>
              </a:rPr>
              <a:t>AEGIS  ·  EVACUATION SIMULATION</a:t>
            </a:r>
            <a:endParaRPr lang="en-US" sz="900"/>
          </a:p>
        </p:txBody>
      </p:sp>
      <p:sp>
        <p:nvSpPr>
          <p:cNvPr id="32" name="Text 32"/>
          <p:cNvSpPr txBox="1"/>
          <p:nvPr/>
        </p:nvSpPr>
        <p:spPr>
          <a:xfrm>
            <a:off x="11144250" y="6505575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900" dirty="0">
                <a:solidFill>
                  <a:srgbClr val="82909B"/>
                </a:solidFill>
                <a:latin typeface="Arial"/>
              </a:rPr>
              <a:t>04 / 07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33400" y="400050"/>
            <a:ext cx="111252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900" b="1" dirty="0">
                <a:solidFill>
                  <a:srgbClr val="1D2730"/>
                </a:solidFill>
                <a:latin typeface="Arial"/>
              </a:rPr>
              <a:t>An injected alarm changes plans while people are moving</a:t>
            </a:r>
            <a:endParaRPr lang="en-US" sz="2900"/>
          </a:p>
        </p:txBody>
      </p:sp>
      <p:sp>
        <p:nvSpPr>
          <p:cNvPr id="3" name="Text 3"/>
          <p:cNvSpPr txBox="1"/>
          <p:nvPr/>
        </p:nvSpPr>
        <p:spPr>
          <a:xfrm>
            <a:off x="552450" y="895350"/>
            <a:ext cx="10953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The local run below shows the selected person and route after a second sensor alarm.</a:t>
            </a:r>
            <a:endParaRPr lang="en-US" sz="1500"/>
          </a:p>
        </p:txBody>
      </p:sp>
      <p:sp>
        <p:nvSpPr>
          <p:cNvPr id="4" name="Shape 4"/>
          <p:cNvSpPr/>
          <p:nvPr/>
        </p:nvSpPr>
        <p:spPr>
          <a:xfrm>
            <a:off x="457200" y="1438275"/>
            <a:ext cx="5657850" cy="4933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3E7"/>
            </a:solidFill>
          </a:ln>
        </p:spPr>
      </p:sp>
      <p:pic>
        <p:nvPicPr>
          <p:cNvPr id="5" name="AEGIS live school simulation after an injected sensor alarm" descr="AEGIS live school simulation after an injected sensor alarm"/>
          <p:cNvPicPr>
            <a:picLocks noChangeAspect="1"/>
          </p:cNvPicPr>
          <p:nvPr/>
        </p:nvPicPr>
        <p:blipFill>
          <a:blip r:embed="rId3"/>
          <a:srcRect l="4500" t="15500" r="39200" b="24000"/>
          <a:stretch>
            <a:fillRect/>
          </a:stretch>
        </p:blipFill>
        <p:spPr>
          <a:xfrm>
            <a:off x="552450" y="1504950"/>
            <a:ext cx="5467350" cy="4933950"/>
          </a:xfrm>
          <a:prstGeom prst="rect">
            <a:avLst/>
          </a:prstGeom>
          <a:ln w="9525">
            <a:solidFill>
              <a:srgbClr val="DCE3E7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6419850" y="154305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000" b="1" dirty="0">
                <a:solidFill>
                  <a:srgbClr val="82909B"/>
                </a:solidFill>
                <a:latin typeface="Arial"/>
              </a:rPr>
              <a:t>OBSERVED IN THIS RUN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6419850" y="1866900"/>
            <a:ext cx="142875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800" b="1" dirty="0">
                <a:solidFill>
                  <a:srgbClr val="1D2730"/>
                </a:solidFill>
                <a:latin typeface="Arial"/>
              </a:rPr>
              <a:t>15</a:t>
            </a:r>
            <a:endParaRPr lang="en-US" sz="2800"/>
          </a:p>
        </p:txBody>
      </p:sp>
      <p:sp>
        <p:nvSpPr>
          <p:cNvPr id="8" name="Text 8"/>
          <p:cNvSpPr txBox="1"/>
          <p:nvPr/>
        </p:nvSpPr>
        <p:spPr>
          <a:xfrm>
            <a:off x="6419850" y="2276475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dirty="0">
                <a:solidFill>
                  <a:srgbClr val="586772"/>
                </a:solidFill>
                <a:latin typeface="Arial"/>
              </a:rPr>
              <a:t>people active</a:t>
            </a:r>
            <a:endParaRPr lang="en-US" sz="1200"/>
          </a:p>
        </p:txBody>
      </p:sp>
      <p:sp>
        <p:nvSpPr>
          <p:cNvPr id="9" name="Text 9"/>
          <p:cNvSpPr txBox="1"/>
          <p:nvPr/>
        </p:nvSpPr>
        <p:spPr>
          <a:xfrm>
            <a:off x="8077200" y="1866900"/>
            <a:ext cx="142875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800" b="1" dirty="0">
                <a:solidFill>
                  <a:srgbClr val="1D2730"/>
                </a:solidFill>
                <a:latin typeface="Arial"/>
              </a:rPr>
              <a:t>2</a:t>
            </a:r>
            <a:endParaRPr lang="en-US" sz="2800"/>
          </a:p>
        </p:txBody>
      </p:sp>
      <p:sp>
        <p:nvSpPr>
          <p:cNvPr id="10" name="Text 10"/>
          <p:cNvSpPr txBox="1"/>
          <p:nvPr/>
        </p:nvSpPr>
        <p:spPr>
          <a:xfrm>
            <a:off x="8077200" y="2276475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dirty="0">
                <a:solidFill>
                  <a:srgbClr val="586772"/>
                </a:solidFill>
                <a:latin typeface="Arial"/>
              </a:rPr>
              <a:t>hazards</a:t>
            </a:r>
            <a:endParaRPr lang="en-US" sz="1200"/>
          </a:p>
        </p:txBody>
      </p:sp>
      <p:sp>
        <p:nvSpPr>
          <p:cNvPr id="11" name="Text 11"/>
          <p:cNvSpPr txBox="1"/>
          <p:nvPr/>
        </p:nvSpPr>
        <p:spPr>
          <a:xfrm>
            <a:off x="9734550" y="1866900"/>
            <a:ext cx="142875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800" b="1" dirty="0">
                <a:solidFill>
                  <a:srgbClr val="2E6FB4"/>
                </a:solidFill>
                <a:latin typeface="Arial"/>
              </a:rPr>
              <a:t>7</a:t>
            </a:r>
            <a:endParaRPr lang="en-US" sz="2800"/>
          </a:p>
        </p:txBody>
      </p:sp>
      <p:sp>
        <p:nvSpPr>
          <p:cNvPr id="12" name="Text 12"/>
          <p:cNvSpPr txBox="1"/>
          <p:nvPr/>
        </p:nvSpPr>
        <p:spPr>
          <a:xfrm>
            <a:off x="9734550" y="2276475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dirty="0">
                <a:solidFill>
                  <a:srgbClr val="586772"/>
                </a:solidFill>
                <a:latin typeface="Arial"/>
              </a:rPr>
              <a:t>routes changed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6419850" y="2647950"/>
            <a:ext cx="4953000" cy="9525"/>
          </a:xfrm>
          <a:prstGeom prst="rect">
            <a:avLst/>
          </a:prstGeom>
          <a:solidFill>
            <a:srgbClr val="DCE3E7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419850" y="282892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600" b="1" dirty="0">
                <a:solidFill>
                  <a:srgbClr val="1D2730"/>
                </a:solidFill>
                <a:latin typeface="Arial"/>
              </a:rPr>
              <a:t>How the incident evolves</a:t>
            </a:r>
            <a:endParaRPr lang="en-US" sz="1600"/>
          </a:p>
        </p:txBody>
      </p:sp>
      <p:sp>
        <p:nvSpPr>
          <p:cNvPr id="15" name="Text 15"/>
          <p:cNvSpPr txBox="1"/>
          <p:nvPr/>
        </p:nvSpPr>
        <p:spPr>
          <a:xfrm>
            <a:off x="6419850" y="3200400"/>
            <a:ext cx="4953000" cy="904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Initial hazard: random safe target; starts at 12–22/100 and grows by 2–4 per tick.</a:t>
            </a:r>
            <a:endParaRPr lang="en-US" sz="1400"/>
          </a:p>
        </p:txBody>
      </p:sp>
      <p:sp>
        <p:nvSpPr>
          <p:cNvPr id="16" name="Text 16"/>
          <p:cNvSpPr txBox="1"/>
          <p:nvPr/>
        </p:nvSpPr>
        <p:spPr>
          <a:xfrm>
            <a:off x="6419850" y="4048125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At intensity stages 35, 60 and 85, nearby areas gain caution and local passages may close.</a:t>
            </a:r>
            <a:endParaRPr lang="en-US" sz="1400"/>
          </a:p>
        </p:txBody>
      </p:sp>
      <p:sp>
        <p:nvSpPr>
          <p:cNvPr id="17" name="Text 17"/>
          <p:cNvSpPr txBox="1"/>
          <p:nvPr/>
        </p:nvSpPr>
        <p:spPr>
          <a:xfrm>
            <a:off x="6419850" y="4781550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An extra sensor alarm starts at 70/100; group routes are recalculated against closures, congestion and exit load.</a:t>
            </a:r>
            <a:endParaRPr lang="en-US" sz="1400"/>
          </a:p>
        </p:txBody>
      </p:sp>
      <p:sp>
        <p:nvSpPr>
          <p:cNvPr id="18" name="Shape 18"/>
          <p:cNvSpPr/>
          <p:nvPr/>
        </p:nvSpPr>
        <p:spPr>
          <a:xfrm>
            <a:off x="6419850" y="5753100"/>
            <a:ext cx="4953000" cy="400050"/>
          </a:xfrm>
          <a:prstGeom prst="roundRect">
            <a:avLst/>
          </a:prstGeom>
          <a:solidFill>
            <a:srgbClr val="EAF3EE"/>
          </a:solidFill>
          <a:ln w="9525">
            <a:solidFill>
              <a:srgbClr val="EAF3EE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6562725" y="57912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100" b="1" dirty="0">
                <a:solidFill>
                  <a:srgbClr val="34765B"/>
                </a:solidFill>
                <a:latin typeface="Arial"/>
              </a:rPr>
              <a:t>Blue = remaining route  ·  covered segments fade to grey</a:t>
            </a:r>
            <a:endParaRPr lang="en-US" sz="1100"/>
          </a:p>
        </p:txBody>
      </p:sp>
      <p:sp>
        <p:nvSpPr>
          <p:cNvPr id="20" name="Text 20"/>
          <p:cNvSpPr txBox="1"/>
          <p:nvPr/>
        </p:nvSpPr>
        <p:spPr>
          <a:xfrm>
            <a:off x="533400" y="6505575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 dirty="0">
                <a:solidFill>
                  <a:srgbClr val="82909B"/>
                </a:solidFill>
                <a:latin typeface="Arial"/>
              </a:rPr>
              <a:t>AEGIS  ·  EVACUATION SIMULATION</a:t>
            </a:r>
            <a:endParaRPr lang="en-US" sz="900"/>
          </a:p>
        </p:txBody>
      </p:sp>
      <p:sp>
        <p:nvSpPr>
          <p:cNvPr id="21" name="Text 21"/>
          <p:cNvSpPr txBox="1"/>
          <p:nvPr/>
        </p:nvSpPr>
        <p:spPr>
          <a:xfrm>
            <a:off x="11144250" y="6505575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900" dirty="0">
                <a:solidFill>
                  <a:srgbClr val="82909B"/>
                </a:solidFill>
                <a:latin typeface="Arial"/>
              </a:rPr>
              <a:t>05 / 07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33400" y="400050"/>
            <a:ext cx="111252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900" b="1" dirty="0">
                <a:solidFill>
                  <a:srgbClr val="1D2730"/>
                </a:solidFill>
                <a:latin typeface="Arial"/>
              </a:rPr>
              <a:t>AEGIS is a rapid rehearsal interface, not a compliance model</a:t>
            </a:r>
            <a:endParaRPr lang="en-US" sz="2900"/>
          </a:p>
        </p:txBody>
      </p:sp>
      <p:sp>
        <p:nvSpPr>
          <p:cNvPr id="3" name="Text 3"/>
          <p:cNvSpPr txBox="1"/>
          <p:nvPr/>
        </p:nvSpPr>
        <p:spPr>
          <a:xfrm>
            <a:off x="552450" y="895350"/>
            <a:ext cx="10953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Its value is visible, replayable route change at hackathon scale.</a:t>
            </a:r>
            <a:endParaRPr lang="en-US" sz="1500"/>
          </a:p>
        </p:txBody>
      </p:sp>
      <p:sp>
        <p:nvSpPr>
          <p:cNvPr id="4" name="Shape 4"/>
          <p:cNvSpPr/>
          <p:nvPr/>
        </p:nvSpPr>
        <p:spPr>
          <a:xfrm>
            <a:off x="533400" y="1581150"/>
            <a:ext cx="5219700" cy="3219450"/>
          </a:xfrm>
          <a:prstGeom prst="roundRect">
            <a:avLst/>
          </a:prstGeom>
          <a:solidFill>
            <a:srgbClr val="F5F7F8"/>
          </a:solidFill>
          <a:ln w="9525">
            <a:solidFill>
              <a:srgbClr val="DCE3E7"/>
            </a:solidFill>
          </a:ln>
        </p:spPr>
      </p:sp>
      <p:sp>
        <p:nvSpPr>
          <p:cNvPr id="5" name="Shape 5"/>
          <p:cNvSpPr/>
          <p:nvPr/>
        </p:nvSpPr>
        <p:spPr>
          <a:xfrm>
            <a:off x="6438900" y="1581150"/>
            <a:ext cx="5219700" cy="321945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EAF1F8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781050" y="1819275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 dirty="0">
                <a:solidFill>
                  <a:srgbClr val="1D2730"/>
                </a:solidFill>
                <a:latin typeface="Arial"/>
              </a:rPr>
              <a:t>Established egress tools</a:t>
            </a:r>
            <a:endParaRPr lang="en-US" sz="1900"/>
          </a:p>
        </p:txBody>
      </p:sp>
      <p:sp>
        <p:nvSpPr>
          <p:cNvPr id="7" name="Text 7"/>
          <p:cNvSpPr txBox="1"/>
          <p:nvPr/>
        </p:nvSpPr>
        <p:spPr>
          <a:xfrm>
            <a:off x="781050" y="2238375"/>
            <a:ext cx="4648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300" b="1" dirty="0">
                <a:solidFill>
                  <a:srgbClr val="82909B"/>
                </a:solidFill>
                <a:latin typeface="Arial"/>
              </a:rPr>
              <a:t>Example: Pathfinder</a:t>
            </a:r>
            <a:endParaRPr lang="en-US" sz="1300"/>
          </a:p>
        </p:txBody>
      </p:sp>
      <p:sp>
        <p:nvSpPr>
          <p:cNvPr id="8" name="Text 8"/>
          <p:cNvSpPr txBox="1"/>
          <p:nvPr/>
        </p:nvSpPr>
        <p:spPr>
          <a:xfrm>
            <a:off x="781050" y="2657475"/>
            <a:ext cx="46101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Agent-based human movement and egress simulation</a:t>
            </a:r>
            <a:endParaRPr lang="en-US" sz="1500"/>
          </a:p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Detailed geometry-oriented analysis</a:t>
            </a:r>
            <a:endParaRPr lang="en-US" sz="1500"/>
          </a:p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Used for building design and evacuation studies</a:t>
            </a:r>
            <a:endParaRPr lang="en-US" sz="1500"/>
          </a:p>
        </p:txBody>
      </p:sp>
      <p:sp>
        <p:nvSpPr>
          <p:cNvPr id="9" name="Text 9"/>
          <p:cNvSpPr txBox="1"/>
          <p:nvPr/>
        </p:nvSpPr>
        <p:spPr>
          <a:xfrm>
            <a:off x="6686550" y="1819275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900" b="1" dirty="0">
                <a:solidFill>
                  <a:srgbClr val="264A67"/>
                </a:solidFill>
                <a:latin typeface="Arial"/>
              </a:rPr>
              <a:t>AEGIS hackathon prototype</a:t>
            </a:r>
            <a:endParaRPr lang="en-US" sz="1900"/>
          </a:p>
        </p:txBody>
      </p:sp>
      <p:sp>
        <p:nvSpPr>
          <p:cNvPr id="10" name="Text 10"/>
          <p:cNvSpPr txBox="1"/>
          <p:nvPr/>
        </p:nvSpPr>
        <p:spPr>
          <a:xfrm>
            <a:off x="6686550" y="2238375"/>
            <a:ext cx="4648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300" b="1" dirty="0">
                <a:solidFill>
                  <a:srgbClr val="2E6FB4"/>
                </a:solidFill>
                <a:latin typeface="Arial"/>
              </a:rPr>
              <a:t>Graph-based, interactive and seeded</a:t>
            </a:r>
            <a:endParaRPr lang="en-US" sz="1300"/>
          </a:p>
        </p:txBody>
      </p:sp>
      <p:sp>
        <p:nvSpPr>
          <p:cNvPr id="11" name="Text 11"/>
          <p:cNvSpPr txBox="1"/>
          <p:nvPr/>
        </p:nvSpPr>
        <p:spPr>
          <a:xfrm>
            <a:off x="6686550" y="2657475"/>
            <a:ext cx="46101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1D2730"/>
                </a:solidFill>
                <a:latin typeface="Arial"/>
              </a:rPr>
              <a:t>Generate a small multi-floor layout in seconds</a:t>
            </a:r>
            <a:endParaRPr lang="en-US" sz="1500"/>
          </a:p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1D2730"/>
                </a:solidFill>
                <a:latin typeface="Arial"/>
              </a:rPr>
              <a:t>Inject an alarm and inspect live reroutes</a:t>
            </a:r>
            <a:endParaRPr lang="en-US" sz="1500"/>
          </a:p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1D2730"/>
                </a:solidFill>
                <a:latin typeface="Arial"/>
              </a:rPr>
              <a:t>Switch to one person’s floor and remaining path</a:t>
            </a:r>
            <a:endParaRPr lang="en-US" sz="1500"/>
          </a:p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1D2730"/>
                </a:solidFill>
                <a:latin typeface="Arial"/>
              </a:rPr>
              <a:t>Replay the same setup with its seed</a:t>
            </a:r>
            <a:endParaRPr lang="en-US" sz="1500"/>
          </a:p>
        </p:txBody>
      </p:sp>
      <p:sp>
        <p:nvSpPr>
          <p:cNvPr id="12" name="Text 12"/>
          <p:cNvSpPr txBox="1"/>
          <p:nvPr/>
        </p:nvSpPr>
        <p:spPr>
          <a:xfrm>
            <a:off x="552450" y="5048250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700" b="1" dirty="0">
                <a:solidFill>
                  <a:srgbClr val="1D2730"/>
                </a:solidFill>
                <a:latin typeface="Arial"/>
              </a:rPr>
              <a:t>Different goals, different validation level</a:t>
            </a:r>
            <a:endParaRPr lang="en-US" sz="1700"/>
          </a:p>
        </p:txBody>
      </p:sp>
      <p:sp>
        <p:nvSpPr>
          <p:cNvPr id="13" name="Text 13"/>
          <p:cNvSpPr txBox="1"/>
          <p:nvPr/>
        </p:nvSpPr>
        <p:spPr>
          <a:xfrm>
            <a:off x="552450" y="5419725"/>
            <a:ext cx="108585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AEGIS is for transparent interaction and route-change demos. It is not certified guidance: no CFD fire or smoke physics, measured building geometry, live sensors, or real emergency calls.</a:t>
            </a:r>
            <a:endParaRPr lang="en-US" sz="1400"/>
          </a:p>
        </p:txBody>
      </p:sp>
      <p:sp>
        <p:nvSpPr>
          <p:cNvPr id="14" name="Text 14"/>
          <p:cNvSpPr txBox="1"/>
          <p:nvPr/>
        </p:nvSpPr>
        <p:spPr>
          <a:xfrm>
            <a:off x="533400" y="6505575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 dirty="0">
                <a:solidFill>
                  <a:srgbClr val="82909B"/>
                </a:solidFill>
                <a:latin typeface="Arial"/>
              </a:rPr>
              <a:t>AEGIS  ·  EVACUATION SIMULATION</a:t>
            </a:r>
            <a:endParaRPr lang="en-US" sz="900"/>
          </a:p>
        </p:txBody>
      </p:sp>
      <p:sp>
        <p:nvSpPr>
          <p:cNvPr id="15" name="Text 15"/>
          <p:cNvSpPr txBox="1"/>
          <p:nvPr/>
        </p:nvSpPr>
        <p:spPr>
          <a:xfrm>
            <a:off x="11144250" y="6505575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900" dirty="0">
                <a:solidFill>
                  <a:srgbClr val="82909B"/>
                </a:solidFill>
                <a:latin typeface="Arial"/>
              </a:rPr>
              <a:t>06 / 07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33400" y="400050"/>
            <a:ext cx="111252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900" b="1" dirty="0">
                <a:solidFill>
                  <a:srgbClr val="1D2730"/>
                </a:solidFill>
                <a:latin typeface="Arial"/>
              </a:rPr>
              <a:t>Graph-based rerouting stays tractable at the demo’s scale</a:t>
            </a:r>
            <a:endParaRPr lang="en-US" sz="2900"/>
          </a:p>
        </p:txBody>
      </p:sp>
      <p:sp>
        <p:nvSpPr>
          <p:cNvPr id="3" name="Text 3"/>
          <p:cNvSpPr txBox="1"/>
          <p:nvPr/>
        </p:nvSpPr>
        <p:spPr>
          <a:xfrm>
            <a:off x="552450" y="895350"/>
            <a:ext cx="10953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586772"/>
                </a:solidFill>
                <a:latin typeface="Arial"/>
              </a:rPr>
              <a:t>Time is driven by graph search per person; the current generated graphs are small.</a:t>
            </a:r>
            <a:endParaRPr lang="en-US" sz="1500"/>
          </a:p>
        </p:txBody>
      </p:sp>
      <p:sp>
        <p:nvSpPr>
          <p:cNvPr id="4" name="Shape 4"/>
          <p:cNvSpPr/>
          <p:nvPr/>
        </p:nvSpPr>
        <p:spPr>
          <a:xfrm>
            <a:off x="533400" y="1581150"/>
            <a:ext cx="6343650" cy="4171950"/>
          </a:xfrm>
          <a:prstGeom prst="roundRect">
            <a:avLst/>
          </a:prstGeom>
          <a:solidFill>
            <a:srgbClr val="F5F7F8"/>
          </a:solidFill>
          <a:ln w="9525">
            <a:solidFill>
              <a:srgbClr val="DCE3E7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781050" y="1800225"/>
            <a:ext cx="5619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700" b="1" dirty="0">
                <a:solidFill>
                  <a:srgbClr val="1D2730"/>
                </a:solidFill>
                <a:latin typeface="Arial"/>
              </a:rPr>
              <a:t>Complexity</a:t>
            </a:r>
            <a:endParaRPr lang="en-US" sz="1700"/>
          </a:p>
        </p:txBody>
      </p:sp>
      <p:sp>
        <p:nvSpPr>
          <p:cNvPr id="6" name="Text 6"/>
          <p:cNvSpPr txBox="1"/>
          <p:nvPr/>
        </p:nvSpPr>
        <p:spPr>
          <a:xfrm>
            <a:off x="781050" y="22479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One route search</a:t>
            </a:r>
            <a:endParaRPr lang="en-US" sz="1400"/>
          </a:p>
        </p:txBody>
      </p:sp>
      <p:sp>
        <p:nvSpPr>
          <p:cNvPr id="7" name="Text 7"/>
          <p:cNvSpPr txBox="1"/>
          <p:nvPr/>
        </p:nvSpPr>
        <p:spPr>
          <a:xfrm>
            <a:off x="781050" y="2543175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800" b="1" dirty="0">
                <a:solidFill>
                  <a:srgbClr val="2E6FB4"/>
                </a:solidFill>
                <a:latin typeface="Arial"/>
              </a:rPr>
              <a:t>O((V + E) log V)</a:t>
            </a:r>
            <a:endParaRPr lang="en-US" sz="2800"/>
          </a:p>
        </p:txBody>
      </p:sp>
      <p:sp>
        <p:nvSpPr>
          <p:cNvPr id="8" name="Text 8"/>
          <p:cNvSpPr txBox="1"/>
          <p:nvPr/>
        </p:nvSpPr>
        <p:spPr>
          <a:xfrm>
            <a:off x="781050" y="3133725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Group replanning after an alarm</a:t>
            </a:r>
            <a:endParaRPr lang="en-US" sz="1400"/>
          </a:p>
        </p:txBody>
      </p:sp>
      <p:sp>
        <p:nvSpPr>
          <p:cNvPr id="9" name="Text 9"/>
          <p:cNvSpPr txBox="1"/>
          <p:nvPr/>
        </p:nvSpPr>
        <p:spPr>
          <a:xfrm>
            <a:off x="781050" y="3438525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800" b="1" dirty="0">
                <a:solidFill>
                  <a:srgbClr val="2E6FB4"/>
                </a:solidFill>
                <a:latin typeface="Arial"/>
              </a:rPr>
              <a:t>O(P (V + E) log V)</a:t>
            </a:r>
            <a:endParaRPr lang="en-US" sz="2800"/>
          </a:p>
        </p:txBody>
      </p:sp>
      <p:sp>
        <p:nvSpPr>
          <p:cNvPr id="10" name="Text 10"/>
          <p:cNvSpPr txBox="1"/>
          <p:nvPr/>
        </p:nvSpPr>
        <p:spPr>
          <a:xfrm>
            <a:off x="781050" y="4057650"/>
            <a:ext cx="55721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600" b="1" dirty="0">
                <a:solidFill>
                  <a:srgbClr val="1D2730"/>
                </a:solidFill>
                <a:latin typeface="Arial"/>
              </a:rPr>
              <a:t>Working memory per search: O(V + E)</a:t>
            </a:r>
            <a:endParaRPr lang="en-US" sz="1600"/>
          </a:p>
        </p:txBody>
      </p:sp>
      <p:sp>
        <p:nvSpPr>
          <p:cNvPr id="11" name="Text 11"/>
          <p:cNvSpPr txBox="1"/>
          <p:nvPr/>
        </p:nvSpPr>
        <p:spPr>
          <a:xfrm>
            <a:off x="781050" y="4495800"/>
            <a:ext cx="5572125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Stored person routes add up to O(PV); event history is capped at 200 entries.</a:t>
            </a:r>
            <a:endParaRPr lang="en-US" sz="1400"/>
          </a:p>
        </p:txBody>
      </p:sp>
      <p:sp>
        <p:nvSpPr>
          <p:cNvPr id="12" name="Text 12"/>
          <p:cNvSpPr txBox="1"/>
          <p:nvPr/>
        </p:nvSpPr>
        <p:spPr>
          <a:xfrm>
            <a:off x="781050" y="5248275"/>
            <a:ext cx="55721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200" b="1" dirty="0">
                <a:solidFill>
                  <a:srgbClr val="82909B"/>
                </a:solidFill>
                <a:latin typeface="Arial"/>
              </a:rPr>
              <a:t>V nodes  ·  E passages  ·  P people</a:t>
            </a:r>
            <a:endParaRPr lang="en-US" sz="1200"/>
          </a:p>
        </p:txBody>
      </p:sp>
      <p:sp>
        <p:nvSpPr>
          <p:cNvPr id="13" name="Text 13"/>
          <p:cNvSpPr txBox="1"/>
          <p:nvPr/>
        </p:nvSpPr>
        <p:spPr>
          <a:xfrm>
            <a:off x="7200900" y="1666875"/>
            <a:ext cx="40386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800" b="1" dirty="0">
                <a:solidFill>
                  <a:srgbClr val="1D2730"/>
                </a:solidFill>
                <a:latin typeface="Arial"/>
              </a:rPr>
              <a:t>Current generator limits</a:t>
            </a:r>
            <a:endParaRPr lang="en-US" sz="1800"/>
          </a:p>
        </p:txBody>
      </p:sp>
      <p:sp>
        <p:nvSpPr>
          <p:cNvPr id="14" name="Text 14"/>
          <p:cNvSpPr txBox="1"/>
          <p:nvPr/>
        </p:nvSpPr>
        <p:spPr>
          <a:xfrm>
            <a:off x="7200900" y="2114550"/>
            <a:ext cx="4038600" cy="962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600" dirty="0">
                <a:solidFill>
                  <a:srgbClr val="586772"/>
                </a:solidFill>
                <a:latin typeface="Arial"/>
              </a:rPr>
              <a:t>Up to 5 floors</a:t>
            </a:r>
            <a:endParaRPr lang="en-US" sz="1600"/>
          </a:p>
          <a:p>
            <a:pPr algn="l">
              <a:lnSpc>
                <a:spcPct val="108000"/>
              </a:lnSpc>
            </a:pPr>
            <a:r>
              <a:rPr lang="en-US" sz="1600" dirty="0">
                <a:solidFill>
                  <a:srgbClr val="586772"/>
                </a:solidFill>
                <a:latin typeface="Arial"/>
              </a:rPr>
              <a:t>Up to 6 rooms per wing</a:t>
            </a:r>
            <a:endParaRPr lang="en-US" sz="1600"/>
          </a:p>
          <a:p>
            <a:pPr algn="l">
              <a:lnSpc>
                <a:spcPct val="108000"/>
              </a:lnSpc>
            </a:pPr>
            <a:r>
              <a:rPr lang="en-US" sz="1600" dirty="0">
                <a:solidFill>
                  <a:srgbClr val="586772"/>
                </a:solidFill>
                <a:latin typeface="Arial"/>
              </a:rPr>
              <a:t>Up to 20 people</a:t>
            </a:r>
            <a:endParaRPr lang="en-US" sz="1600"/>
          </a:p>
        </p:txBody>
      </p:sp>
      <p:sp>
        <p:nvSpPr>
          <p:cNvPr id="15" name="Shape 15"/>
          <p:cNvSpPr/>
          <p:nvPr/>
        </p:nvSpPr>
        <p:spPr>
          <a:xfrm>
            <a:off x="7200900" y="3257550"/>
            <a:ext cx="4095750" cy="1066800"/>
          </a:xfrm>
          <a:prstGeom prst="roundRect">
            <a:avLst/>
          </a:prstGeom>
          <a:solidFill>
            <a:srgbClr val="EAF3EE"/>
          </a:solidFill>
          <a:ln w="9525">
            <a:solidFill>
              <a:srgbClr val="EAF3EE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391400" y="3409950"/>
            <a:ext cx="37147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700" b="1" dirty="0">
                <a:solidFill>
                  <a:srgbClr val="34765B"/>
                </a:solidFill>
                <a:latin typeface="Arial"/>
              </a:rPr>
              <a:t>Maximum generated graph: about 107 nodes and 110 passages.</a:t>
            </a:r>
            <a:endParaRPr lang="en-US" sz="1700"/>
          </a:p>
        </p:txBody>
      </p:sp>
      <p:sp>
        <p:nvSpPr>
          <p:cNvPr id="17" name="Text 17"/>
          <p:cNvSpPr txBox="1"/>
          <p:nvPr/>
        </p:nvSpPr>
        <p:spPr>
          <a:xfrm>
            <a:off x="7200900" y="4533900"/>
            <a:ext cx="4133850" cy="1276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400" dirty="0">
                <a:solidFill>
                  <a:srgbClr val="586772"/>
                </a:solidFill>
                <a:latin typeface="Arial"/>
              </a:rPr>
              <a:t>Dijkstra uses positive travel, caution, congestion and exit-load costs. This is a graph heuristic, not a forecast of real evacuation time.</a:t>
            </a:r>
            <a:endParaRPr lang="en-US" sz="1400"/>
          </a:p>
        </p:txBody>
      </p:sp>
      <p:sp>
        <p:nvSpPr>
          <p:cNvPr id="18" name="Text 18"/>
          <p:cNvSpPr txBox="1"/>
          <p:nvPr/>
        </p:nvSpPr>
        <p:spPr>
          <a:xfrm>
            <a:off x="533400" y="595312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1500" b="1" dirty="0">
                <a:solidFill>
                  <a:srgbClr val="1D2730"/>
                </a:solidFill>
                <a:latin typeface="Arial"/>
              </a:rPr>
              <a:t>AEGIS  ·  Every Second Counts. Every Route Adapts.</a:t>
            </a:r>
            <a:endParaRPr lang="en-US" sz="1500"/>
          </a:p>
        </p:txBody>
      </p:sp>
      <p:sp>
        <p:nvSpPr>
          <p:cNvPr id="19" name="Text 19"/>
          <p:cNvSpPr txBox="1"/>
          <p:nvPr/>
        </p:nvSpPr>
        <p:spPr>
          <a:xfrm>
            <a:off x="533400" y="6505575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900" b="1" dirty="0">
                <a:solidFill>
                  <a:srgbClr val="82909B"/>
                </a:solidFill>
                <a:latin typeface="Arial"/>
              </a:rPr>
              <a:t>AEGIS  ·  EVACUATION SIMULATION</a:t>
            </a:r>
            <a:endParaRPr lang="en-US" sz="900"/>
          </a:p>
        </p:txBody>
      </p:sp>
      <p:sp>
        <p:nvSpPr>
          <p:cNvPr id="20" name="Text 20"/>
          <p:cNvSpPr txBox="1"/>
          <p:nvPr/>
        </p:nvSpPr>
        <p:spPr>
          <a:xfrm>
            <a:off x="11144250" y="6505575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</a:pPr>
            <a:r>
              <a:rPr lang="en-US" sz="900" dirty="0">
                <a:solidFill>
                  <a:srgbClr val="82909B"/>
                </a:solidFill>
                <a:latin typeface="Arial"/>
              </a:rPr>
              <a:t>07 / 07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1471</Words>
  <Application>Microsoft Office PowerPoint</Application>
  <PresentationFormat>Widescreen</PresentationFormat>
  <Paragraphs>139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Hackathon Pitch</dc:title>
  <dc:subject>Evacuation simulation</dc:subject>
  <dc:creator>AEGIS Team</dc:creator>
  <cp:lastModifiedBy>ashutosh dubey</cp:lastModifiedBy>
  <cp:revision>3</cp:revision>
  <dcterms:modified xsi:type="dcterms:W3CDTF">2026-10-24T02:54:46Z</dcterms:modified>
</cp:coreProperties>
</file>